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6.png"/><Relationship Id="rId7" Type="http://schemas.openxmlformats.org/officeDocument/2006/relationships/image" Target="../media/image2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5.png"/><Relationship Id="rId7" Type="http://schemas.openxmlformats.org/officeDocument/2006/relationships/image" Target="../media/image12.png"/><Relationship Id="rId8" Type="http://schemas.openxmlformats.org/officeDocument/2006/relationships/image" Target="../media/image6.png"/><Relationship Id="rId9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2.png"/><Relationship Id="rId10" Type="http://schemas.openxmlformats.org/officeDocument/2006/relationships/image" Target="../media/image6.png"/><Relationship Id="rId11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2.png"/><Relationship Id="rId11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eg"/><Relationship Id="rId4" Type="http://schemas.openxmlformats.org/officeDocument/2006/relationships/image" Target="../media/image13.jpeg"/><Relationship Id="rId5" Type="http://schemas.openxmlformats.org/officeDocument/2006/relationships/image" Target="../media/image2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1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rcRect l="12327" r="12327"/>
          <a:stretch/>
        </p:blipFill>
        <p:spPr>
          <a:xfrm>
            <a:off x="0" y="0"/>
            <a:ext cx="12191695" cy="72923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38130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2"/>
          <p:cNvSpPr/>
          <p:nvPr/>
        </p:nvSpPr>
        <p:spPr>
          <a:xfrm>
            <a:off x="571500" y="2394815"/>
            <a:ext cx="11048695" cy="4362602"/>
          </a:xfrm>
          <a:prstGeom prst="roundRect">
            <a:avLst>
              <a:gd name="adj" fmla="val 7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AEFF82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61949" y="3439058"/>
            <a:ext cx="10267798" cy="9144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961949" y="5721401"/>
            <a:ext cx="10267798" cy="875995"/>
          </a:xfrm>
          <a:prstGeom prst="rect">
            <a:avLst/>
          </a:prstGeom>
          <a:solidFill>
            <a:srgbClr val="273383">
              <a:alpha val="4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961949" y="5721401"/>
            <a:ext cx="38405" cy="875995"/>
          </a:xfrm>
          <a:prstGeom prst="rect">
            <a:avLst/>
          </a:prstGeom>
          <a:solidFill>
            <a:srgbClr val="AEFF8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3902659" y="7321601"/>
            <a:ext cx="123444" cy="13350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71500" y="1429207"/>
            <a:ext cx="6229807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Hackathon 2026</a:t>
            </a:r>
            <a:endParaRPr lang="en-US" sz="3600" dirty="0"/>
          </a:p>
        </p:txBody>
      </p:sp>
      <p:sp>
        <p:nvSpPr>
          <p:cNvPr id="13" name="Text 7"/>
          <p:cNvSpPr txBox="1"/>
          <p:nvPr/>
        </p:nvSpPr>
        <p:spPr>
          <a:xfrm>
            <a:off x="571500" y="2018995"/>
            <a:ext cx="409102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Submission Template</a:t>
            </a:r>
            <a:endParaRPr lang="en-US" sz="22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61949" y="3047695"/>
            <a:ext cx="228600" cy="2286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04849" y="3010205"/>
            <a:ext cx="6336922" cy="201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Instructions </a:t>
            </a:r>
            <a:r>
              <a:rPr lang="en-US" sz="1200" i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(Remove this slide while submitting)</a:t>
            </a:r>
            <a:endParaRPr lang="en-US" sz="1800" i="1" dirty="0"/>
          </a:p>
        </p:txBody>
      </p:sp>
      <p:sp>
        <p:nvSpPr>
          <p:cNvPr id="16" name="Text 9"/>
          <p:cNvSpPr txBox="1"/>
          <p:nvPr/>
        </p:nvSpPr>
        <p:spPr>
          <a:xfrm>
            <a:off x="1190549" y="5911596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NAMING CONVENTION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1190549" y="6159398"/>
            <a:ext cx="35817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EFF82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Team Name_PSNo (E.g. i4C_PS01)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3674059" y="7216445"/>
            <a:ext cx="4848149" cy="34290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blurRad="12700" dist="12700" dir="16200000" algn="bl" rotWithShape="0">
              <a:srgbClr val="000000">
                <a:alpha val="7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2"/>
          <p:cNvSpPr txBox="1"/>
          <p:nvPr/>
        </p:nvSpPr>
        <p:spPr>
          <a:xfrm>
            <a:off x="4102913" y="7292340"/>
            <a:ext cx="4291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THIS SLIDE FOR INSTRUCTIONS IN FINAL SUBMISSION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961948" y="4286354"/>
            <a:ext cx="10267798" cy="1344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Prepare the solution document as per this template, feel free to modify layouts while keeping core content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Kindly keep the maximum slides limit up to six (6-7). ( Including the title slide) 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 to avoid paragraphs and post your idea in points /diagrams / Infographics /pictures 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can only use provided template for making the PPT without changing the idea details pointers (mentioned in previous slides).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need to save the file in PDF and upload the same on portal. No PPT, Word Doc or any other format will be supported.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E0E0E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4234F-3583-BFF9-C279-17614D0CF4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511607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PS01 (KLA) - AI-Based Restoration of Degraded Images for Semiconductor Inspection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BYTE BRIGADE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 Bajaj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Raghav Soni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Parth Kumar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Mayank Lodhi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2nd Year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LNCT University, Bhopal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+91 91796 86667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prakharbajaj1551@gmail.com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PS01 - KLA: AI-Based Restoration of Degraded Images for Semiconductor Inspection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584448"/>
            <a:ext cx="10267798" cy="164592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703320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3968496"/>
            <a:ext cx="8968435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Wafer inspection images arrive noisy and low-resolution: fast, low-dose scanning trades image quality for throughput.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degradations are present - speckle noise (scales with brightness), additive Gaussian sensor noise, and 2x downsampling - applied in an undisclosed order.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defects hide inside this noise. A missed defect can cost an entire wafer; a false alarm wastes engineer time.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Task: learn a mapping from a 128x128 degraded image to its clean 256x256 original, scored on PSNR, SSIM, LPIPS and end-to-end speed.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  <p:pic>
        <p:nvPicPr>
          <p:cNvPr id="23" name="Picture 22" descr="slide_proble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5349240"/>
            <a:ext cx="2468880" cy="10379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small network restores a noisy 128x128 image to a clean 256x256 one - denoising and 2x super-resolution in a single pass, trained only on the data provided.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10267798" cy="1133856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395935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224528"/>
            <a:ext cx="76773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small network denoises and 2x super-resolves in a single pass.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Supervised on the 3,200 provided pairs - no external data, no pretrained restoration weights.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Predicts only a correction on a bicubic upscale, which strongly constrains hallucination.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5047488"/>
            <a:ext cx="10267798" cy="1307592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166359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431536"/>
            <a:ext cx="8458200" cy="832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NAFNet-SR: 0.53 M parameters, 2.3 MB checkpoint - runs on a laptop CPU.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on the judged metrics: Charbonnier + SSIM + LPIPS loss.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28.00 dB PSNR / 0.759 SSIM / 0.175 LPIPS - beats bicubic on all three.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 25 ms per image on a T4 GPU (40 images/second).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NAFNet-SR: 24 simplified restoration blocks and a learned 2x upsampler, added to a bicubic upscale so the network predicts only a correction.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10267798" cy="248716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959352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24528"/>
            <a:ext cx="899678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NAFNet - SOTA quality, no transformer, no activation function.   LOSS - Charbonnier + 0.15 SSIM + 0.05 LPIPS (no GAN loss).</a:t>
            </a:r>
            <a:endParaRPr lang="en-US" sz="13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 - 3,000/100/100 seeded split, 128 px crops, batch 16, 100 epochs, ~2 h on a free Colab T4.   INFERENCE - directories in/out, batched, tiled.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  <p:pic>
        <p:nvPicPr>
          <p:cNvPr id="24" name="Picture 23" descr="slide_architec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4288" y="4709160"/>
            <a:ext cx="7589520" cy="16079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train directly on the judged metrics, and constrain the model to correct rather than generate - decisive when invented structure could be mistaken for a defect.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03320"/>
            <a:ext cx="5020056" cy="2633472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3822191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087368"/>
            <a:ext cx="4429354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train directly on the scoreboard: SSIM and LPIPS terms sit inside the loss, so the model optimises two of the three judged metrics rather than hoping they follow from pixel accuracy.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Hallucination is strongly constrained: the global bicubic skip means the network predicts a correction rather than generating an image freely.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Float-faithful pipeline: degraded inputs legitimately exceed [0,1] and we never clip them; clipping is applied only to outputs, where ground truth guarantees the range.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703320"/>
            <a:ext cx="5020056" cy="2633472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3822191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087368"/>
            <a:ext cx="423915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SMALLER: 0.53 M parameters (2.3 MB) versus 10-26 M for Restormer or SwinIR, so throughput - an explicit scoring axis - is a strength.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FASTER: 25 ms per image end-to-end on a T4; all 400 test images in ~10 s.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TRUSTWORTHY: beats the bicubic baseline on 100 of 100 held-out images; failure cases are published and analysed rather than hidden.</a:t>
            </a:r>
            <a:endParaRPr lang="en-US" sz="12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splits, one-command training and inference, weights and runtime report committed to the repository.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Better on all three judged image-quality metrics, at 25 ms per image - recovering detail that noise would otherwise hide, with no new hardware.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0480"/>
            <a:ext cx="5020056" cy="1298448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3941063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3931920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187952"/>
            <a:ext cx="414863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 hidden inside sensor noise becomes visible again - fewer missed defects and fewer false alarms.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Enables faster or lower-dose scanning: recover quality in software, so existing microscopes inspect more wafers.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3840480"/>
            <a:ext cx="5020056" cy="1298448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3941063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3931920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187952"/>
            <a:ext cx="3986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PSNR  22.96 -&gt; 28.00 dB   (+5.04 dB)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SSIM  0.537 -&gt; 0.759   |   LPIPS  0.433 -&gt; 0.175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ms/image - all 400 test images in ~10 s</a:t>
            </a:r>
            <a:endParaRPr lang="en-US" sz="100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0.53 M parameters, 2.3 MB checkpoint - runs on CPU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  <p:pic>
        <p:nvPicPr>
          <p:cNvPr id="29" name="Picture 28" descr="slide_result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4288" y="5230368"/>
            <a:ext cx="7589520" cy="1144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and NAFNet-SR, trained in about two hours on a free Colab T4, and deployable on either a GPU or a plain laptop CPU.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27650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end to end on a free Google Colab T4 in about two hours; no paid infrastructure was used at any stage.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runs on GPU or CPU. Batched on CUDA, tiled for large images, and verified on 128, 256 and non-square inputs.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Deployment is a drop-in folder-to-folder script plus a Streamlit UI for operators; evaluators need no source-code edits.</a:t>
            </a:r>
            <a:endParaRPr lang="en-US" sz="13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Measured, not estimated: benchmark.py reports end-to-end runtime with hardware and software versions stated.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2.11 - NAFNet-SR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NVIDIA T4 / H100 - CPU capable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 - Git - Streamlit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github.com/prakharbajaj1551/semicon-image-restoration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https://www.youtube.com/watch?v=RMSDaviTOIw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component is drawn from peer-reviewed restoration research, not invented for this hackathon.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18872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45282"/>
            <a:ext cx="55440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published, peer-reviewed research rather than an unproven design: NAFNet (ECCV 2022) matches transformer restorers at a fraction of the cost.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Loss follows restoration literature - Charbonnier for pixel fidelity, SSIM for structure, LPIPS for perceptual quality.</a:t>
            </a:r>
            <a:endParaRPr lang="en-US" sz="12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 on a held-out split with no selection leakage, against a bicubic baseline, with failure cases analysed.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three papers behind our architecture, our upsampler and our perceptual metric.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2224" y="48463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1: Chen et al., Simple Baselines for Image Restoration (NAFNet), ECCV 2022 - arxiv.org/abs/2204.04676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2224" y="53035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2: Zhang et al., The Unreasonable Effectiveness of Deep Features as a Perceptual Metric (LPIPS), CVPR 2018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2224" y="5742432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 3: Shi et al., Real-Time Single Image Super-Resolution Using an Efficient Sub-Pixel CNN, CVPR 2016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