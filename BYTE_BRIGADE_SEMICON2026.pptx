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Byte Brigade. We built an AI system that takes noisy, low-resolution semiconductor inspection images and restores them to clean, sharp, double-resolution images — with one small, fast neural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chip fabs, inspection images are noisy and low-resolution, and a hidden defect can cost a whole wafer. Our task: learn from 3,200 paired examples how to reverse the degradation, then restore 400 unseen test images that are scored against hidden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principles. First, standard supervised learning on pairs — no exotic training. Second, one network does denoising and upscaling together, which works better than chaining two models. Third — critical for inspection — the model is built so it can only recover structure, never invent it. A fake defect or an erased one is worse than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backbone is NAFNet — ECCV 2022 state of the art. Its block is radically simple: no transformer, not even ReLU — a learned gate instead. Twenty-four blocks clean the features, PixelShuffle learns the upscale, and the key trick is the global skip: we add a plain bicubic upscale of the input, so the network only predicts the correction. That makes training stable and hallucination structurally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strategy: 3,000 paired images, 128-pixel random crops in batches of 16, with eight-fold flip and rotation augmentation. The loss combines Charbonnier for pixel fidelity, SSIM for structure, and a small LPIPS term for perceptual quality — two of the three judged metrics optimised directly. AdamW with cosine learning-rate decay over 100 epochs, validating every fifth epoch and keeping the best checkpoint. Two hours on a free Colab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innovation is disciplined engineering, not exotic research. We train directly on the judged metrics. We guarantee no hallucination by construction. And one subtle point others may miss: the input arrays contain values outside zero-one — real noise signal. Our pipeline keeps full float precision everywhere; converting to images would destroy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one hundred held-out pairs: plus five dB PSNR — that's roughly 69 percent of pixel error eliminated — SSIM up from 0.54 to 0.76, and LPIPS, the perceptual metric, cut by 60 percent. Better on every judged axis. And it runs at about a second per image on a plain laptop CPU — 30 milliseconds on a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restoring noise-hidden detail means fewer missed defects, and it lets fabs scan faster or at lower dose because the software recovers quality — more throughput from the same microscopes. Feasibility is proven, not projected: the system is built and running, the model is six and a half megabytes, it needs no GPU to deploy, it cost nothing to train, and it processed all four hundred test images in eight minutes on a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open source and reproducible. Training cost nothing — two hours on a free Colab GPU. Every random seed is fixed, and the model file carries its own configuration, so anyone can rerun our exact pipeline from the README in four commands. There's also a live Streamlit demo — happy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is small and readable on purpose — nine short modules, each commented to explain why, not just what. The README reproduces every number on this slide deck with four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stand on proven open research — NAFNet for the architecture, PixelShuffle for upscaling, LPIPS for perceptual quality. Thank you —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640080"/>
            <a:ext cx="10058400" cy="365760"/>
          </a:xfrm>
          <a:prstGeom prst="rect">
            <a:avLst/>
          </a:prstGeom>
          <a:noFill/>
          <a:ln/>
        </p:spPr>
        <p:txBody>
          <a:bodyPr wrap="square" lIns="0" tIns="0" rIns="0" bIns="0" rtlCol="0" anchor="ctr"/>
          <a:lstStyle/>
          <a:p>
            <a:pPr indent="0" marL="0">
              <a:buNone/>
            </a:pPr>
            <a:r>
              <a:rPr lang="en-US" sz="1500" b="1" spc="300" kern="0" dirty="0">
                <a:solidFill>
                  <a:srgbClr val="02C39A"/>
                </a:solidFill>
                <a:latin typeface="Arial" pitchFamily="34" charset="0"/>
                <a:ea typeface="Arial" pitchFamily="34" charset="-122"/>
                <a:cs typeface="Arial" pitchFamily="34" charset="-120"/>
              </a:rPr>
              <a:t>SEMICON INDIA HACKATHON 2026</a:t>
            </a:r>
            <a:endParaRPr lang="en-US" sz="1500" dirty="0"/>
          </a:p>
        </p:txBody>
      </p:sp>
      <p:sp>
        <p:nvSpPr>
          <p:cNvPr id="3" name="Text 1"/>
          <p:cNvSpPr/>
          <p:nvPr/>
        </p:nvSpPr>
        <p:spPr>
          <a:xfrm>
            <a:off x="731520" y="1234440"/>
            <a:ext cx="10698480" cy="100584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BYTE BRIGADE</a:t>
            </a:r>
            <a:endParaRPr lang="en-US" sz="6000" dirty="0"/>
          </a:p>
        </p:txBody>
      </p:sp>
      <p:sp>
        <p:nvSpPr>
          <p:cNvPr id="4" name="Text 2"/>
          <p:cNvSpPr/>
          <p:nvPr/>
        </p:nvSpPr>
        <p:spPr>
          <a:xfrm>
            <a:off x="731520" y="2377440"/>
            <a:ext cx="10058400" cy="1005840"/>
          </a:xfrm>
          <a:prstGeom prst="rect">
            <a:avLst/>
          </a:prstGeom>
          <a:noFill/>
          <a:ln/>
        </p:spPr>
        <p:txBody>
          <a:bodyPr wrap="square" lIns="0" tIns="0" rIns="0" bIns="0" rtlCol="0" anchor="ctr"/>
          <a:lstStyle/>
          <a:p>
            <a:pPr indent="0" marL="0">
              <a:buNone/>
            </a:pPr>
            <a:r>
              <a:rPr lang="en-US" sz="2400" dirty="0">
                <a:solidFill>
                  <a:srgbClr val="CADCFC"/>
                </a:solidFill>
                <a:latin typeface="Calibri" pitchFamily="34" charset="0"/>
                <a:ea typeface="Calibri" pitchFamily="34" charset="-122"/>
                <a:cs typeface="Calibri" pitchFamily="34" charset="-120"/>
              </a:rPr>
              <a:t>AI-Based Restoration of Degraded Images</a:t>
            </a:r>
            <a:endParaRPr lang="en-US" sz="2400" dirty="0"/>
          </a:p>
          <a:p>
            <a:pPr indent="0" marL="0">
              <a:buNone/>
            </a:pPr>
            <a:r>
              <a:rPr lang="en-US" sz="2400" dirty="0">
                <a:solidFill>
                  <a:srgbClr val="CADCFC"/>
                </a:solidFill>
                <a:latin typeface="Calibri" pitchFamily="34" charset="0"/>
                <a:ea typeface="Calibri" pitchFamily="34" charset="-122"/>
                <a:cs typeface="Calibri" pitchFamily="34" charset="-120"/>
              </a:rPr>
              <a:t>for Semiconductor Inspection</a:t>
            </a:r>
            <a:endParaRPr lang="en-US" sz="2400" dirty="0"/>
          </a:p>
        </p:txBody>
      </p:sp>
      <p:sp>
        <p:nvSpPr>
          <p:cNvPr id="5" name="Text 3"/>
          <p:cNvSpPr/>
          <p:nvPr/>
        </p:nvSpPr>
        <p:spPr>
          <a:xfrm>
            <a:off x="731520" y="3566160"/>
            <a:ext cx="10698480" cy="41148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One lightweight network  ·  denoising + 2× super-resolution  ·  +5.0 dB over baseline</a:t>
            </a:r>
            <a:endParaRPr lang="en-US" sz="1500" dirty="0"/>
          </a:p>
        </p:txBody>
      </p:sp>
      <p:sp>
        <p:nvSpPr>
          <p:cNvPr id="6" name="Text 4"/>
          <p:cNvSpPr/>
          <p:nvPr/>
        </p:nvSpPr>
        <p:spPr>
          <a:xfrm>
            <a:off x="731520" y="5212080"/>
            <a:ext cx="2606040" cy="914400"/>
          </a:xfrm>
          <a:prstGeom prst="roundRect">
            <a:avLst>
              <a:gd name="adj" fmla="val 8000"/>
            </a:avLst>
          </a:prstGeom>
          <a:solidFill>
            <a:srgbClr val="2B3775"/>
          </a:solid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Prakhar Bajaj</a:t>
            </a:r>
            <a:endParaRPr lang="en-US" sz="1500" dirty="0"/>
          </a:p>
          <a:p>
            <a:pPr algn="ctr" indent="0" marL="0">
              <a:buNone/>
            </a:pPr>
            <a:r>
              <a:rPr lang="en-US" sz="1000" dirty="0">
                <a:solidFill>
                  <a:srgbClr val="CADCFC"/>
                </a:solidFill>
                <a:latin typeface="Calibri" pitchFamily="34" charset="0"/>
                <a:ea typeface="Calibri" pitchFamily="34" charset="-122"/>
                <a:cs typeface="Calibri" pitchFamily="34" charset="-120"/>
              </a:rPr>
              <a:t>Team Member</a:t>
            </a:r>
            <a:endParaRPr lang="en-US" sz="1500" dirty="0"/>
          </a:p>
        </p:txBody>
      </p:sp>
      <p:sp>
        <p:nvSpPr>
          <p:cNvPr id="7" name="Text 5"/>
          <p:cNvSpPr/>
          <p:nvPr/>
        </p:nvSpPr>
        <p:spPr>
          <a:xfrm>
            <a:off x="3520440" y="5212080"/>
            <a:ext cx="2606040" cy="914400"/>
          </a:xfrm>
          <a:prstGeom prst="roundRect">
            <a:avLst>
              <a:gd name="adj" fmla="val 8000"/>
            </a:avLst>
          </a:prstGeom>
          <a:solidFill>
            <a:srgbClr val="2B3775"/>
          </a:solid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Raghav Soni</a:t>
            </a:r>
            <a:endParaRPr lang="en-US" sz="1500" dirty="0"/>
          </a:p>
          <a:p>
            <a:pPr algn="ctr" indent="0" marL="0">
              <a:buNone/>
            </a:pPr>
            <a:r>
              <a:rPr lang="en-US" sz="1000" dirty="0">
                <a:solidFill>
                  <a:srgbClr val="CADCFC"/>
                </a:solidFill>
                <a:latin typeface="Calibri" pitchFamily="34" charset="0"/>
                <a:ea typeface="Calibri" pitchFamily="34" charset="-122"/>
                <a:cs typeface="Calibri" pitchFamily="34" charset="-120"/>
              </a:rPr>
              <a:t>Team Member</a:t>
            </a:r>
            <a:endParaRPr lang="en-US" sz="1500" dirty="0"/>
          </a:p>
        </p:txBody>
      </p:sp>
      <p:sp>
        <p:nvSpPr>
          <p:cNvPr id="8" name="Text 6"/>
          <p:cNvSpPr/>
          <p:nvPr/>
        </p:nvSpPr>
        <p:spPr>
          <a:xfrm>
            <a:off x="6309360" y="5212080"/>
            <a:ext cx="2606040" cy="914400"/>
          </a:xfrm>
          <a:prstGeom prst="roundRect">
            <a:avLst>
              <a:gd name="adj" fmla="val 8000"/>
            </a:avLst>
          </a:prstGeom>
          <a:solidFill>
            <a:srgbClr val="2B3775"/>
          </a:solid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Parth Kumar</a:t>
            </a:r>
            <a:endParaRPr lang="en-US" sz="1500" dirty="0"/>
          </a:p>
          <a:p>
            <a:pPr algn="ctr" indent="0" marL="0">
              <a:buNone/>
            </a:pPr>
            <a:r>
              <a:rPr lang="en-US" sz="1000" dirty="0">
                <a:solidFill>
                  <a:srgbClr val="CADCFC"/>
                </a:solidFill>
                <a:latin typeface="Calibri" pitchFamily="34" charset="0"/>
                <a:ea typeface="Calibri" pitchFamily="34" charset="-122"/>
                <a:cs typeface="Calibri" pitchFamily="34" charset="-120"/>
              </a:rPr>
              <a:t>Team Member</a:t>
            </a:r>
            <a:endParaRPr lang="en-US" sz="1500" dirty="0"/>
          </a:p>
        </p:txBody>
      </p:sp>
      <p:sp>
        <p:nvSpPr>
          <p:cNvPr id="9" name="Text 7"/>
          <p:cNvSpPr/>
          <p:nvPr/>
        </p:nvSpPr>
        <p:spPr>
          <a:xfrm>
            <a:off x="9098280" y="5212080"/>
            <a:ext cx="2606040" cy="914400"/>
          </a:xfrm>
          <a:prstGeom prst="roundRect">
            <a:avLst>
              <a:gd name="adj" fmla="val 8000"/>
            </a:avLst>
          </a:prstGeom>
          <a:solidFill>
            <a:srgbClr val="2B3775"/>
          </a:solid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Mayank Lodhi</a:t>
            </a:r>
            <a:endParaRPr lang="en-US" sz="1500" dirty="0"/>
          </a:p>
          <a:p>
            <a:pPr algn="ctr" indent="0" marL="0">
              <a:buNone/>
            </a:pPr>
            <a:r>
              <a:rPr lang="en-US" sz="1000" dirty="0">
                <a:solidFill>
                  <a:srgbClr val="CADCFC"/>
                </a:solidFill>
                <a:latin typeface="Calibri" pitchFamily="34" charset="0"/>
                <a:ea typeface="Calibri" pitchFamily="34" charset="-122"/>
                <a:cs typeface="Calibri" pitchFamily="34" charset="-120"/>
              </a:rPr>
              <a:t>Team Member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E2761"/>
                </a:solidFill>
                <a:latin typeface="Arial" pitchFamily="34" charset="0"/>
                <a:ea typeface="Arial" pitchFamily="34" charset="-122"/>
                <a:cs typeface="Arial" pitchFamily="34" charset="-120"/>
              </a:rPr>
              <a:t>Problem Statement</a:t>
            </a:r>
            <a:endParaRPr lang="en-US" sz="3200" dirty="0"/>
          </a:p>
        </p:txBody>
      </p:sp>
      <p:sp>
        <p:nvSpPr>
          <p:cNvPr id="3" name="Text 1"/>
          <p:cNvSpPr/>
          <p:nvPr/>
        </p:nvSpPr>
        <p:spPr>
          <a:xfrm>
            <a:off x="548640" y="1371600"/>
            <a:ext cx="5760720" cy="265176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222222"/>
                </a:solidFill>
                <a:latin typeface="Calibri" pitchFamily="34" charset="0"/>
                <a:ea typeface="Calibri" pitchFamily="34" charset="-122"/>
                <a:cs typeface="Calibri" pitchFamily="34" charset="-120"/>
              </a:rPr>
              <a:t>Inspection images arrive degraded: speckle + Gaussian noise at only 128×128 resolution — defects hide in the noise</a:t>
            </a:r>
            <a:endParaRPr lang="en-US" sz="1500" dirty="0"/>
          </a:p>
          <a:p>
            <a:pPr marL="342900" indent="-342900">
              <a:spcAft>
                <a:spcPts val="1200"/>
              </a:spcAft>
              <a:buSzPct val="100000"/>
              <a:buChar char="•"/>
            </a:pPr>
            <a:r>
              <a:rPr lang="en-US" sz="1500" dirty="0">
                <a:solidFill>
                  <a:srgbClr val="222222"/>
                </a:solidFill>
                <a:latin typeface="Calibri" pitchFamily="34" charset="0"/>
                <a:ea typeface="Calibri" pitchFamily="34" charset="-122"/>
                <a:cs typeface="Calibri" pitchFamily="34" charset="-120"/>
              </a:rPr>
              <a:t>Task: restore each image to a clean, sharp 256×256 — judged on PSNR, SSIM, LPIPS and inference speed</a:t>
            </a:r>
            <a:endParaRPr lang="en-US" sz="1500" dirty="0"/>
          </a:p>
          <a:p>
            <a:pPr marL="342900" indent="-342900">
              <a:spcAft>
                <a:spcPts val="1200"/>
              </a:spcAft>
              <a:buSzPct val="100000"/>
              <a:buChar char="•"/>
            </a:pPr>
            <a:r>
              <a:rPr lang="en-US" sz="1500" dirty="0">
                <a:solidFill>
                  <a:srgbClr val="222222"/>
                </a:solidFill>
                <a:latin typeface="Calibri" pitchFamily="34" charset="0"/>
                <a:ea typeface="Calibri" pitchFamily="34" charset="-122"/>
                <a:cs typeface="Calibri" pitchFamily="34" charset="-120"/>
              </a:rPr>
              <a:t>Supervised setup: learn from paired data (degraded in, ground truth out); test outputs scored against hidden ground truth</a:t>
            </a:r>
            <a:endParaRPr lang="en-US" sz="1500" dirty="0"/>
          </a:p>
        </p:txBody>
      </p:sp>
      <p:sp>
        <p:nvSpPr>
          <p:cNvPr id="4" name="Text 2"/>
          <p:cNvSpPr/>
          <p:nvPr/>
        </p:nvSpPr>
        <p:spPr>
          <a:xfrm>
            <a:off x="548640" y="4389120"/>
            <a:ext cx="1783080" cy="457200"/>
          </a:xfrm>
          <a:prstGeom prst="roundRect">
            <a:avLst>
              <a:gd name="adj" fmla="val 24000"/>
            </a:avLst>
          </a:prstGeom>
          <a:solidFill>
            <a:srgbClr val="F4F7FD"/>
          </a:solid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3,200 training pairs</a:t>
            </a:r>
            <a:endParaRPr lang="en-US" sz="1200" dirty="0"/>
          </a:p>
        </p:txBody>
      </p:sp>
      <p:sp>
        <p:nvSpPr>
          <p:cNvPr id="5" name="Text 3"/>
          <p:cNvSpPr/>
          <p:nvPr/>
        </p:nvSpPr>
        <p:spPr>
          <a:xfrm>
            <a:off x="2468880" y="4389120"/>
            <a:ext cx="1920240" cy="457200"/>
          </a:xfrm>
          <a:prstGeom prst="roundRect">
            <a:avLst>
              <a:gd name="adj" fmla="val 24000"/>
            </a:avLst>
          </a:prstGeom>
          <a:solidFill>
            <a:srgbClr val="F4F7FD"/>
          </a:solid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400 hidden test images</a:t>
            </a:r>
            <a:endParaRPr lang="en-US" sz="1200" dirty="0"/>
          </a:p>
        </p:txBody>
      </p:sp>
      <p:sp>
        <p:nvSpPr>
          <p:cNvPr id="6" name="Text 4"/>
          <p:cNvSpPr/>
          <p:nvPr/>
        </p:nvSpPr>
        <p:spPr>
          <a:xfrm>
            <a:off x="4526280" y="4389120"/>
            <a:ext cx="1783080" cy="457200"/>
          </a:xfrm>
          <a:prstGeom prst="roundRect">
            <a:avLst>
              <a:gd name="adj" fmla="val 24000"/>
            </a:avLst>
          </a:prstGeom>
          <a:solidFill>
            <a:srgbClr val="F4F7FD"/>
          </a:solid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128 → 256 px  (×2)</a:t>
            </a:r>
            <a:endParaRPr lang="en-US" sz="1200" dirty="0"/>
          </a:p>
        </p:txBody>
      </p:sp>
      <p:pic>
        <p:nvPicPr>
          <p:cNvPr id="7" name="Image 0" descr="C:/Users/Mi/Downloads/files/assets/problem_pair.png">    </p:cNvPr>
          <p:cNvPicPr>
            <a:picLocks noChangeAspect="1"/>
          </p:cNvPicPr>
          <p:nvPr/>
        </p:nvPicPr>
        <p:blipFill>
          <a:blip r:embed="rId1"/>
          <a:stretch>
            <a:fillRect/>
          </a:stretch>
        </p:blipFill>
        <p:spPr>
          <a:xfrm>
            <a:off x="6629400" y="1600200"/>
            <a:ext cx="5029200" cy="2459736"/>
          </a:xfrm>
          <a:prstGeom prst="rect">
            <a:avLst/>
          </a:prstGeom>
        </p:spPr>
      </p:pic>
      <p:sp>
        <p:nvSpPr>
          <p:cNvPr id="8" name="Text 5"/>
          <p:cNvSpPr/>
          <p:nvPr/>
        </p:nvSpPr>
        <p:spPr>
          <a:xfrm>
            <a:off x="6629400" y="4114800"/>
            <a:ext cx="2468880" cy="50292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What we receive (128×128, shown 2×)</a:t>
            </a:r>
            <a:endParaRPr lang="en-US" sz="1100" dirty="0"/>
          </a:p>
        </p:txBody>
      </p:sp>
      <p:sp>
        <p:nvSpPr>
          <p:cNvPr id="9" name="Text 6"/>
          <p:cNvSpPr/>
          <p:nvPr/>
        </p:nvSpPr>
        <p:spPr>
          <a:xfrm>
            <a:off x="9189720" y="4114800"/>
            <a:ext cx="2468880" cy="502920"/>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What we must produce (256×256)</a:t>
            </a:r>
            <a:endParaRPr lang="en-US" sz="1100" dirty="0"/>
          </a:p>
        </p:txBody>
      </p:sp>
      <p:sp>
        <p:nvSpPr>
          <p:cNvPr id="10" name="Text 7"/>
          <p:cNvSpPr/>
          <p:nvPr/>
        </p:nvSpPr>
        <p:spPr>
          <a:xfrm>
            <a:off x="548640" y="5760720"/>
            <a:ext cx="11064240" cy="457200"/>
          </a:xfrm>
          <a:prstGeom prst="rect">
            <a:avLst/>
          </a:prstGeom>
          <a:noFill/>
          <a:ln/>
        </p:spPr>
        <p:txBody>
          <a:bodyPr wrap="square" lIns="0" tIns="0" rIns="0" bIns="0" rtlCol="0" anchor="ctr"/>
          <a:lstStyle/>
          <a:p>
            <a:pPr indent="0" marL="0">
              <a:buNone/>
            </a:pPr>
            <a:r>
              <a:rPr lang="en-US" sz="1400" i="1" dirty="0">
                <a:solidFill>
                  <a:srgbClr val="1E2761"/>
                </a:solidFill>
                <a:latin typeface="Calibri" pitchFamily="34" charset="0"/>
                <a:ea typeface="Calibri" pitchFamily="34" charset="-122"/>
                <a:cs typeface="Calibri" pitchFamily="34" charset="-120"/>
              </a:rPr>
              <a:t>A hidden defect can cost an entire wafer — restoration must be trustworthy, not just pretty.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E2761"/>
                </a:solidFill>
                <a:latin typeface="Arial" pitchFamily="34" charset="0"/>
                <a:ea typeface="Arial" pitchFamily="34" charset="-122"/>
                <a:cs typeface="Arial" pitchFamily="34" charset="-120"/>
              </a:rPr>
              <a:t>Our Idea</a:t>
            </a:r>
            <a:endParaRPr lang="en-US" sz="3200" dirty="0"/>
          </a:p>
        </p:txBody>
      </p:sp>
      <p:sp>
        <p:nvSpPr>
          <p:cNvPr id="3" name="Text 1"/>
          <p:cNvSpPr/>
          <p:nvPr/>
        </p:nvSpPr>
        <p:spPr>
          <a:xfrm>
            <a:off x="777240" y="1691640"/>
            <a:ext cx="502920" cy="502920"/>
          </a:xfrm>
          <a:prstGeom prst="ellipse">
            <a:avLst/>
          </a:prstGeom>
          <a:solidFill>
            <a:srgbClr val="1E2761"/>
          </a:solid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4" name="Text 2"/>
          <p:cNvSpPr/>
          <p:nvPr/>
        </p:nvSpPr>
        <p:spPr>
          <a:xfrm>
            <a:off x="548640" y="2377440"/>
            <a:ext cx="3520440" cy="2286000"/>
          </a:xfrm>
          <a:prstGeom prst="roundRect">
            <a:avLst>
              <a:gd name="adj" fmla="val 4000"/>
            </a:avLst>
          </a:prstGeom>
          <a:solidFill>
            <a:srgbClr val="F4F7FD"/>
          </a:solidFill>
          <a:ln/>
        </p:spPr>
        <p:txBody>
          <a:bodyPr wrap="square" lIns="152400" tIns="152400" rIns="152400" bIns="152400" rtlCol="0" anchor="t"/>
          <a:lstStyle/>
          <a:p>
            <a:pPr indent="0" marL="0">
              <a:spcAft>
                <a:spcPts val="800"/>
              </a:spcAft>
              <a:buNone/>
            </a:pPr>
            <a:r>
              <a:rPr lang="en-US" sz="1700" b="1" dirty="0">
                <a:solidFill>
                  <a:srgbClr val="1E2761"/>
                </a:solidFill>
                <a:latin typeface="Calibri" pitchFamily="34" charset="0"/>
                <a:ea typeface="Calibri" pitchFamily="34" charset="-122"/>
                <a:cs typeface="Calibri" pitchFamily="34" charset="-120"/>
              </a:rPr>
              <a:t>Learn from pairs</a:t>
            </a:r>
            <a:endParaRPr lang="en-US" sz="1700" dirty="0"/>
          </a:p>
          <a:p>
            <a:pPr indent="0" marL="0">
              <a:spcAft>
                <a:spcPts val="800"/>
              </a:spcAft>
              <a:buNone/>
            </a:pPr>
            <a:r>
              <a:rPr lang="en-US" sz="1300" dirty="0">
                <a:solidFill>
                  <a:srgbClr val="333333"/>
                </a:solidFill>
                <a:latin typeface="Calibri" pitchFamily="34" charset="0"/>
                <a:ea typeface="Calibri" pitchFamily="34" charset="-122"/>
                <a:cs typeface="Calibri" pitchFamily="34" charset="-120"/>
              </a:rPr>
              <a:t>Standard supervised learning: degraded image in, clean image out. No exotic training procedures — proven, stable, debuggable.</a:t>
            </a:r>
            <a:endParaRPr lang="en-US" sz="1700" dirty="0"/>
          </a:p>
        </p:txBody>
      </p:sp>
      <p:sp>
        <p:nvSpPr>
          <p:cNvPr id="5" name="Text 3"/>
          <p:cNvSpPr/>
          <p:nvPr/>
        </p:nvSpPr>
        <p:spPr>
          <a:xfrm>
            <a:off x="4572000" y="1691640"/>
            <a:ext cx="502920" cy="502920"/>
          </a:xfrm>
          <a:prstGeom prst="ellipse">
            <a:avLst/>
          </a:prstGeom>
          <a:solidFill>
            <a:srgbClr val="1E2761"/>
          </a:solid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6" name="Text 4"/>
          <p:cNvSpPr/>
          <p:nvPr/>
        </p:nvSpPr>
        <p:spPr>
          <a:xfrm>
            <a:off x="4343400" y="2377440"/>
            <a:ext cx="3520440" cy="2286000"/>
          </a:xfrm>
          <a:prstGeom prst="roundRect">
            <a:avLst>
              <a:gd name="adj" fmla="val 4000"/>
            </a:avLst>
          </a:prstGeom>
          <a:solidFill>
            <a:srgbClr val="F4F7FD"/>
          </a:solidFill>
          <a:ln/>
        </p:spPr>
        <p:txBody>
          <a:bodyPr wrap="square" lIns="152400" tIns="152400" rIns="152400" bIns="152400" rtlCol="0" anchor="t"/>
          <a:lstStyle/>
          <a:p>
            <a:pPr indent="0" marL="0">
              <a:spcAft>
                <a:spcPts val="800"/>
              </a:spcAft>
              <a:buNone/>
            </a:pPr>
            <a:r>
              <a:rPr lang="en-US" sz="1700" b="1" dirty="0">
                <a:solidFill>
                  <a:srgbClr val="1E2761"/>
                </a:solidFill>
                <a:latin typeface="Calibri" pitchFamily="34" charset="0"/>
                <a:ea typeface="Calibri" pitchFamily="34" charset="-122"/>
                <a:cs typeface="Calibri" pitchFamily="34" charset="-120"/>
              </a:rPr>
              <a:t>One network, two jobs</a:t>
            </a:r>
            <a:endParaRPr lang="en-US" sz="1700" dirty="0"/>
          </a:p>
          <a:p>
            <a:pPr indent="0" marL="0">
              <a:spcAft>
                <a:spcPts val="800"/>
              </a:spcAft>
              <a:buNone/>
            </a:pPr>
            <a:r>
              <a:rPr lang="en-US" sz="1300" dirty="0">
                <a:solidFill>
                  <a:srgbClr val="333333"/>
                </a:solidFill>
                <a:latin typeface="Calibri" pitchFamily="34" charset="0"/>
                <a:ea typeface="Calibri" pitchFamily="34" charset="-122"/>
                <a:cs typeface="Calibri" pitchFamily="34" charset="-120"/>
              </a:rPr>
              <a:t>Denoising and 2× super-resolution in a single forward pass. Joint restoration beats chaining two separate models.</a:t>
            </a:r>
            <a:endParaRPr lang="en-US" sz="1700" dirty="0"/>
          </a:p>
        </p:txBody>
      </p:sp>
      <p:sp>
        <p:nvSpPr>
          <p:cNvPr id="7" name="Text 5"/>
          <p:cNvSpPr/>
          <p:nvPr/>
        </p:nvSpPr>
        <p:spPr>
          <a:xfrm>
            <a:off x="8366760" y="1691640"/>
            <a:ext cx="502920" cy="502920"/>
          </a:xfrm>
          <a:prstGeom prst="ellipse">
            <a:avLst/>
          </a:prstGeom>
          <a:solidFill>
            <a:srgbClr val="1E2761"/>
          </a:solid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8" name="Text 6"/>
          <p:cNvSpPr/>
          <p:nvPr/>
        </p:nvSpPr>
        <p:spPr>
          <a:xfrm>
            <a:off x="8138160" y="2377440"/>
            <a:ext cx="3520440" cy="2286000"/>
          </a:xfrm>
          <a:prstGeom prst="roundRect">
            <a:avLst>
              <a:gd name="adj" fmla="val 4000"/>
            </a:avLst>
          </a:prstGeom>
          <a:solidFill>
            <a:srgbClr val="F4F7FD"/>
          </a:solidFill>
          <a:ln/>
        </p:spPr>
        <p:txBody>
          <a:bodyPr wrap="square" lIns="152400" tIns="152400" rIns="152400" bIns="152400" rtlCol="0" anchor="t"/>
          <a:lstStyle/>
          <a:p>
            <a:pPr indent="0" marL="0">
              <a:spcAft>
                <a:spcPts val="800"/>
              </a:spcAft>
              <a:buNone/>
            </a:pPr>
            <a:r>
              <a:rPr lang="en-US" sz="1700" b="1" dirty="0">
                <a:solidFill>
                  <a:srgbClr val="1E2761"/>
                </a:solidFill>
                <a:latin typeface="Calibri" pitchFamily="34" charset="0"/>
                <a:ea typeface="Calibri" pitchFamily="34" charset="-122"/>
                <a:cs typeface="Calibri" pitchFamily="34" charset="-120"/>
              </a:rPr>
              <a:t>Restore, never invent</a:t>
            </a:r>
            <a:endParaRPr lang="en-US" sz="1700" dirty="0"/>
          </a:p>
          <a:p>
            <a:pPr indent="0" marL="0">
              <a:spcAft>
                <a:spcPts val="800"/>
              </a:spcAft>
              <a:buNone/>
            </a:pPr>
            <a:r>
              <a:rPr lang="en-US" sz="1300" dirty="0">
                <a:solidFill>
                  <a:srgbClr val="333333"/>
                </a:solidFill>
                <a:latin typeface="Calibri" pitchFamily="34" charset="0"/>
                <a:ea typeface="Calibri" pitchFamily="34" charset="-122"/>
                <a:cs typeface="Calibri" pitchFamily="34" charset="-120"/>
              </a:rPr>
              <a:t>Architecture and loss are designed so the model can only recover structure — it cannot hallucinate detail that was never there.</a:t>
            </a:r>
            <a:endParaRPr lang="en-US" sz="1700" dirty="0"/>
          </a:p>
        </p:txBody>
      </p:sp>
      <p:sp>
        <p:nvSpPr>
          <p:cNvPr id="9" name="Text 7"/>
          <p:cNvSpPr/>
          <p:nvPr/>
        </p:nvSpPr>
        <p:spPr>
          <a:xfrm>
            <a:off x="548640" y="5212080"/>
            <a:ext cx="11018520" cy="640080"/>
          </a:xfrm>
          <a:prstGeom prst="roundRect">
            <a:avLst>
              <a:gd name="adj" fmla="val 14286"/>
            </a:avLst>
          </a:prstGeom>
          <a:solidFill>
            <a:srgbClr val="1E2761"/>
          </a:solid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Judged on PSNR  ·  SSIM  ·  LPIPS  ·  speed — our loss and design optimize all four directly.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E2761"/>
                </a:solidFill>
                <a:latin typeface="Arial" pitchFamily="34" charset="0"/>
                <a:ea typeface="Arial" pitchFamily="34" charset="-122"/>
                <a:cs typeface="Arial" pitchFamily="34" charset="-120"/>
              </a:rPr>
              <a:t>Architecture — NAFNet-SR</a:t>
            </a:r>
            <a:endParaRPr lang="en-US" sz="3200" dirty="0"/>
          </a:p>
        </p:txBody>
      </p:sp>
      <p:sp>
        <p:nvSpPr>
          <p:cNvPr id="3" name="Text 1"/>
          <p:cNvSpPr/>
          <p:nvPr/>
        </p:nvSpPr>
        <p:spPr>
          <a:xfrm>
            <a:off x="457200" y="1554480"/>
            <a:ext cx="1417320" cy="914400"/>
          </a:xfrm>
          <a:prstGeom prst="roundRect">
            <a:avLst>
              <a:gd name="adj" fmla="val 8000"/>
            </a:avLst>
          </a:prstGeom>
          <a:solidFill>
            <a:srgbClr val="FFFFFF"/>
          </a:solidFill>
          <a:ln w="19050">
            <a:solidFill>
              <a:srgbClr val="1E2761"/>
            </a:solidFill>
          </a:ln>
        </p:spPr>
        <p:txBody>
          <a:bodyPr wrap="square"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Input</a:t>
            </a:r>
            <a:endParaRPr lang="en-US" sz="1250" dirty="0"/>
          </a:p>
          <a:p>
            <a:pPr algn="ctr" indent="0" marL="0">
              <a:buNone/>
            </a:pPr>
            <a:r>
              <a:rPr lang="en-US" sz="1250" b="1" dirty="0">
                <a:solidFill>
                  <a:srgbClr val="1E2761"/>
                </a:solidFill>
                <a:latin typeface="Calibri" pitchFamily="34" charset="0"/>
                <a:ea typeface="Calibri" pitchFamily="34" charset="-122"/>
                <a:cs typeface="Calibri" pitchFamily="34" charset="-120"/>
              </a:rPr>
              <a:t>128×128</a:t>
            </a:r>
            <a:endParaRPr lang="en-US" sz="1250" dirty="0"/>
          </a:p>
        </p:txBody>
      </p:sp>
      <p:sp>
        <p:nvSpPr>
          <p:cNvPr id="4" name="Text 2"/>
          <p:cNvSpPr/>
          <p:nvPr/>
        </p:nvSpPr>
        <p:spPr>
          <a:xfrm>
            <a:off x="2240280" y="1554480"/>
            <a:ext cx="1874520" cy="914400"/>
          </a:xfrm>
          <a:prstGeom prst="roundRect">
            <a:avLst>
              <a:gd name="adj" fmla="val 8000"/>
            </a:avLst>
          </a:prstGeom>
          <a:solidFill>
            <a:srgbClr val="1E2761"/>
          </a:solidFill>
          <a:ln>
            <a:solidFill>
              <a:srgbClr val="1E2761"/>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Head conv</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1 → 48 channels</a:t>
            </a:r>
            <a:endParaRPr lang="en-US" sz="1250" dirty="0"/>
          </a:p>
        </p:txBody>
      </p:sp>
      <p:sp>
        <p:nvSpPr>
          <p:cNvPr id="5" name="Text 3"/>
          <p:cNvSpPr/>
          <p:nvPr/>
        </p:nvSpPr>
        <p:spPr>
          <a:xfrm>
            <a:off x="4480560" y="1554480"/>
            <a:ext cx="2057400" cy="914400"/>
          </a:xfrm>
          <a:prstGeom prst="roundRect">
            <a:avLst>
              <a:gd name="adj" fmla="val 8000"/>
            </a:avLst>
          </a:prstGeom>
          <a:solidFill>
            <a:srgbClr val="1E2761"/>
          </a:solidFill>
          <a:ln>
            <a:solidFill>
              <a:srgbClr val="1E2761"/>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24 × NAFBlock</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feature cleaning</a:t>
            </a:r>
            <a:endParaRPr lang="en-US" sz="1250" dirty="0"/>
          </a:p>
        </p:txBody>
      </p:sp>
      <p:sp>
        <p:nvSpPr>
          <p:cNvPr id="6" name="Text 4"/>
          <p:cNvSpPr/>
          <p:nvPr/>
        </p:nvSpPr>
        <p:spPr>
          <a:xfrm>
            <a:off x="6903720" y="1554480"/>
            <a:ext cx="2057400" cy="914400"/>
          </a:xfrm>
          <a:prstGeom prst="roundRect">
            <a:avLst>
              <a:gd name="adj" fmla="val 8000"/>
            </a:avLst>
          </a:prstGeom>
          <a:solidFill>
            <a:srgbClr val="1E2761"/>
          </a:solidFill>
          <a:ln>
            <a:solidFill>
              <a:srgbClr val="1E2761"/>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PixelShuffle ×2</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 tail conv</a:t>
            </a:r>
            <a:endParaRPr lang="en-US" sz="1250" dirty="0"/>
          </a:p>
        </p:txBody>
      </p:sp>
      <p:sp>
        <p:nvSpPr>
          <p:cNvPr id="7" name="Text 5"/>
          <p:cNvSpPr/>
          <p:nvPr/>
        </p:nvSpPr>
        <p:spPr>
          <a:xfrm>
            <a:off x="10058400" y="1554480"/>
            <a:ext cx="1645920" cy="914400"/>
          </a:xfrm>
          <a:prstGeom prst="roundRect">
            <a:avLst>
              <a:gd name="adj" fmla="val 8000"/>
            </a:avLst>
          </a:prstGeom>
          <a:solidFill>
            <a:srgbClr val="FFFFFF"/>
          </a:solidFill>
          <a:ln w="19050">
            <a:solidFill>
              <a:srgbClr val="1E2761"/>
            </a:solidFill>
          </a:ln>
        </p:spPr>
        <p:txBody>
          <a:bodyPr wrap="square"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Output</a:t>
            </a:r>
            <a:endParaRPr lang="en-US" sz="1250" dirty="0"/>
          </a:p>
          <a:p>
            <a:pPr algn="ctr" indent="0" marL="0">
              <a:buNone/>
            </a:pPr>
            <a:r>
              <a:rPr lang="en-US" sz="1250" b="1" dirty="0">
                <a:solidFill>
                  <a:srgbClr val="1E2761"/>
                </a:solidFill>
                <a:latin typeface="Calibri" pitchFamily="34" charset="0"/>
                <a:ea typeface="Calibri" pitchFamily="34" charset="-122"/>
                <a:cs typeface="Calibri" pitchFamily="34" charset="-120"/>
              </a:rPr>
              <a:t>256×256</a:t>
            </a:r>
            <a:endParaRPr lang="en-US" sz="1250" dirty="0"/>
          </a:p>
        </p:txBody>
      </p:sp>
      <p:sp>
        <p:nvSpPr>
          <p:cNvPr id="8" name="Shape 6"/>
          <p:cNvSpPr/>
          <p:nvPr/>
        </p:nvSpPr>
        <p:spPr>
          <a:xfrm>
            <a:off x="1874520" y="2011680"/>
            <a:ext cx="365760" cy="0"/>
          </a:xfrm>
          <a:prstGeom prst="line">
            <a:avLst/>
          </a:prstGeom>
          <a:noFill/>
          <a:ln w="28575">
            <a:solidFill>
              <a:srgbClr val="1E2761"/>
            </a:solidFill>
            <a:prstDash val="solid"/>
            <a:tailEnd type="triangle"/>
          </a:ln>
        </p:spPr>
      </p:sp>
      <p:sp>
        <p:nvSpPr>
          <p:cNvPr id="9" name="Shape 7"/>
          <p:cNvSpPr/>
          <p:nvPr/>
        </p:nvSpPr>
        <p:spPr>
          <a:xfrm>
            <a:off x="4114800" y="2011680"/>
            <a:ext cx="365760" cy="0"/>
          </a:xfrm>
          <a:prstGeom prst="line">
            <a:avLst/>
          </a:prstGeom>
          <a:noFill/>
          <a:ln w="28575">
            <a:solidFill>
              <a:srgbClr val="1E2761"/>
            </a:solidFill>
            <a:prstDash val="solid"/>
            <a:tailEnd type="triangle"/>
          </a:ln>
        </p:spPr>
      </p:sp>
      <p:sp>
        <p:nvSpPr>
          <p:cNvPr id="10" name="Shape 8"/>
          <p:cNvSpPr/>
          <p:nvPr/>
        </p:nvSpPr>
        <p:spPr>
          <a:xfrm>
            <a:off x="6537960" y="2011680"/>
            <a:ext cx="365760" cy="0"/>
          </a:xfrm>
          <a:prstGeom prst="line">
            <a:avLst/>
          </a:prstGeom>
          <a:noFill/>
          <a:ln w="28575">
            <a:solidFill>
              <a:srgbClr val="1E2761"/>
            </a:solidFill>
            <a:prstDash val="solid"/>
            <a:tailEnd type="triangle"/>
          </a:ln>
        </p:spPr>
      </p:sp>
      <p:sp>
        <p:nvSpPr>
          <p:cNvPr id="11" name="Shape 9"/>
          <p:cNvSpPr/>
          <p:nvPr/>
        </p:nvSpPr>
        <p:spPr>
          <a:xfrm>
            <a:off x="8961120" y="2011680"/>
            <a:ext cx="228600" cy="0"/>
          </a:xfrm>
          <a:prstGeom prst="line">
            <a:avLst/>
          </a:prstGeom>
          <a:noFill/>
          <a:ln w="28575">
            <a:solidFill>
              <a:srgbClr val="1E2761"/>
            </a:solidFill>
            <a:prstDash val="solid"/>
            <a:tailEnd type="triangle"/>
          </a:ln>
        </p:spPr>
      </p:sp>
      <p:sp>
        <p:nvSpPr>
          <p:cNvPr id="12" name="Text 10"/>
          <p:cNvSpPr/>
          <p:nvPr/>
        </p:nvSpPr>
        <p:spPr>
          <a:xfrm>
            <a:off x="9281160" y="1737360"/>
            <a:ext cx="548640" cy="548640"/>
          </a:xfrm>
          <a:prstGeom prst="ellipse">
            <a:avLst/>
          </a:prstGeom>
          <a:solidFill>
            <a:srgbClr val="02C39A"/>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13" name="Shape 11"/>
          <p:cNvSpPr/>
          <p:nvPr/>
        </p:nvSpPr>
        <p:spPr>
          <a:xfrm>
            <a:off x="9829800" y="2011680"/>
            <a:ext cx="228600" cy="0"/>
          </a:xfrm>
          <a:prstGeom prst="line">
            <a:avLst/>
          </a:prstGeom>
          <a:noFill/>
          <a:ln w="28575">
            <a:solidFill>
              <a:srgbClr val="1E2761"/>
            </a:solidFill>
            <a:prstDash val="solid"/>
            <a:tailEnd type="triangle"/>
          </a:ln>
        </p:spPr>
      </p:sp>
      <p:sp>
        <p:nvSpPr>
          <p:cNvPr id="14" name="Shape 12"/>
          <p:cNvSpPr/>
          <p:nvPr/>
        </p:nvSpPr>
        <p:spPr>
          <a:xfrm>
            <a:off x="1165860" y="2468880"/>
            <a:ext cx="0" cy="594360"/>
          </a:xfrm>
          <a:prstGeom prst="line">
            <a:avLst/>
          </a:prstGeom>
          <a:noFill/>
          <a:ln w="28575">
            <a:solidFill>
              <a:srgbClr val="02C39A"/>
            </a:solidFill>
            <a:prstDash val="solid"/>
          </a:ln>
        </p:spPr>
      </p:sp>
      <p:sp>
        <p:nvSpPr>
          <p:cNvPr id="15" name="Shape 13"/>
          <p:cNvSpPr/>
          <p:nvPr/>
        </p:nvSpPr>
        <p:spPr>
          <a:xfrm>
            <a:off x="1165860" y="3063240"/>
            <a:ext cx="8389620" cy="0"/>
          </a:xfrm>
          <a:prstGeom prst="line">
            <a:avLst/>
          </a:prstGeom>
          <a:noFill/>
          <a:ln w="28575">
            <a:solidFill>
              <a:srgbClr val="02C39A"/>
            </a:solidFill>
            <a:prstDash val="solid"/>
          </a:ln>
        </p:spPr>
      </p:sp>
      <p:sp>
        <p:nvSpPr>
          <p:cNvPr id="16" name="Shape 14"/>
          <p:cNvSpPr/>
          <p:nvPr/>
        </p:nvSpPr>
        <p:spPr>
          <a:xfrm>
            <a:off x="9555480" y="2286000"/>
            <a:ext cx="0" cy="777240"/>
          </a:xfrm>
          <a:prstGeom prst="line">
            <a:avLst/>
          </a:prstGeom>
          <a:noFill/>
          <a:ln w="28575">
            <a:solidFill>
              <a:srgbClr val="02C39A"/>
            </a:solidFill>
            <a:prstDash val="solid"/>
            <a:tailEnd type="triangle"/>
          </a:ln>
        </p:spPr>
      </p:sp>
      <p:sp>
        <p:nvSpPr>
          <p:cNvPr id="17" name="Text 15"/>
          <p:cNvSpPr/>
          <p:nvPr/>
        </p:nvSpPr>
        <p:spPr>
          <a:xfrm>
            <a:off x="1463040" y="3118104"/>
            <a:ext cx="7863840" cy="365760"/>
          </a:xfrm>
          <a:prstGeom prst="rect">
            <a:avLst/>
          </a:prstGeom>
          <a:noFill/>
          <a:ln/>
        </p:spPr>
        <p:txBody>
          <a:bodyPr wrap="square" lIns="0" tIns="0" rIns="0" bIns="0" rtlCol="0" anchor="ctr"/>
          <a:lstStyle/>
          <a:p>
            <a:pPr indent="0" marL="0">
              <a:buNone/>
            </a:pPr>
            <a:r>
              <a:rPr lang="en-US" sz="1200" i="1" dirty="0">
                <a:solidFill>
                  <a:srgbClr val="0A8F72"/>
                </a:solidFill>
                <a:latin typeface="Calibri" pitchFamily="34" charset="0"/>
                <a:ea typeface="Calibri" pitchFamily="34" charset="-122"/>
                <a:cs typeface="Calibri" pitchFamily="34" charset="-120"/>
              </a:rPr>
              <a:t>global skip: bicubic ×2 upscale of the input — the network learns only the CORRECTION</a:t>
            </a:r>
            <a:endParaRPr lang="en-US" sz="1200" dirty="0"/>
          </a:p>
        </p:txBody>
      </p:sp>
      <p:sp>
        <p:nvSpPr>
          <p:cNvPr id="18" name="Text 16"/>
          <p:cNvSpPr/>
          <p:nvPr/>
        </p:nvSpPr>
        <p:spPr>
          <a:xfrm>
            <a:off x="548640" y="3977640"/>
            <a:ext cx="11064240" cy="777240"/>
          </a:xfrm>
          <a:prstGeom prst="roundRect">
            <a:avLst>
              <a:gd name="adj" fmla="val 11765"/>
            </a:avLst>
          </a:prstGeom>
          <a:solidFill>
            <a:srgbClr val="F4F7FD"/>
          </a:solidFill>
          <a:ln/>
        </p:spPr>
        <p:txBody>
          <a:bodyPr wrap="square" lIns="152400" tIns="152400" rIns="152400" bIns="15240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Inside one NAFBlock:  </a:t>
            </a:r>
            <a:pPr indent="0" marL="0">
              <a:buNone/>
            </a:pPr>
            <a:r>
              <a:rPr lang="en-US" sz="1400" dirty="0">
                <a:solidFill>
                  <a:srgbClr val="333333"/>
                </a:solidFill>
                <a:latin typeface="Calibri" pitchFamily="34" charset="0"/>
                <a:ea typeface="Calibri" pitchFamily="34" charset="-122"/>
                <a:cs typeface="Calibri" pitchFamily="34" charset="-120"/>
              </a:rPr>
              <a:t>LayerNorm  →  1×1 conv  →  depthwise 3×3 conv  →  SimpleGate  →  channel attention  →  residual add</a:t>
            </a:r>
            <a:endParaRPr lang="en-US" sz="1400" dirty="0"/>
          </a:p>
        </p:txBody>
      </p:sp>
      <p:sp>
        <p:nvSpPr>
          <p:cNvPr id="19" name="Text 17"/>
          <p:cNvSpPr/>
          <p:nvPr/>
        </p:nvSpPr>
        <p:spPr>
          <a:xfrm>
            <a:off x="548640" y="5120640"/>
            <a:ext cx="2377440" cy="457200"/>
          </a:xfrm>
          <a:prstGeom prst="roundRect">
            <a:avLst>
              <a:gd name="adj" fmla="val 24000"/>
            </a:avLst>
          </a:prstGeom>
          <a:solidFill>
            <a:srgbClr val="1E2761"/>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0.53 M parameters</a:t>
            </a:r>
            <a:endParaRPr lang="en-US" sz="1300" dirty="0"/>
          </a:p>
        </p:txBody>
      </p:sp>
      <p:sp>
        <p:nvSpPr>
          <p:cNvPr id="20" name="Text 18"/>
          <p:cNvSpPr/>
          <p:nvPr/>
        </p:nvSpPr>
        <p:spPr>
          <a:xfrm>
            <a:off x="3108960" y="5120640"/>
            <a:ext cx="2377440" cy="457200"/>
          </a:xfrm>
          <a:prstGeom prst="roundRect">
            <a:avLst>
              <a:gd name="adj" fmla="val 24000"/>
            </a:avLst>
          </a:prstGeom>
          <a:solidFill>
            <a:srgbClr val="1E2761"/>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6.8 MB model file</a:t>
            </a:r>
            <a:endParaRPr lang="en-US" sz="1300" dirty="0"/>
          </a:p>
        </p:txBody>
      </p:sp>
      <p:sp>
        <p:nvSpPr>
          <p:cNvPr id="21" name="Text 19"/>
          <p:cNvSpPr/>
          <p:nvPr/>
        </p:nvSpPr>
        <p:spPr>
          <a:xfrm>
            <a:off x="5669280" y="5120640"/>
            <a:ext cx="5943600" cy="457200"/>
          </a:xfrm>
          <a:prstGeom prst="roundRect">
            <a:avLst>
              <a:gd name="adj" fmla="val 24000"/>
            </a:avLst>
          </a:prstGeom>
          <a:solidFill>
            <a:srgbClr val="1E2761"/>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 ReLU · No transformer · No GAN — simplicity is the strategy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E2761"/>
                </a:solidFill>
                <a:latin typeface="Arial" pitchFamily="34" charset="0"/>
                <a:ea typeface="Arial" pitchFamily="34" charset="-122"/>
                <a:cs typeface="Arial" pitchFamily="34" charset="-120"/>
              </a:rPr>
              <a:t>Training Strategy</a:t>
            </a:r>
            <a:endParaRPr lang="en-US" sz="3200" dirty="0"/>
          </a:p>
        </p:txBody>
      </p:sp>
      <p:sp>
        <p:nvSpPr>
          <p:cNvPr id="3" name="Text 1"/>
          <p:cNvSpPr/>
          <p:nvPr/>
        </p:nvSpPr>
        <p:spPr>
          <a:xfrm>
            <a:off x="548640" y="1234440"/>
            <a:ext cx="5120640" cy="320040"/>
          </a:xfrm>
          <a:prstGeom prst="rect">
            <a:avLst/>
          </a:prstGeom>
          <a:noFill/>
          <a:ln/>
        </p:spPr>
        <p:txBody>
          <a:bodyPr wrap="square" lIns="0" tIns="0" rIns="0" bIns="0" rtlCol="0" anchor="ctr"/>
          <a:lstStyle/>
          <a:p>
            <a:pPr indent="0" marL="0">
              <a:buNone/>
            </a:pPr>
            <a:r>
              <a:rPr lang="en-US" sz="1700" b="1" dirty="0">
                <a:solidFill>
                  <a:srgbClr val="1E2761"/>
                </a:solidFill>
                <a:latin typeface="Arial" pitchFamily="34" charset="0"/>
                <a:ea typeface="Arial" pitchFamily="34" charset="-122"/>
                <a:cs typeface="Arial" pitchFamily="34" charset="-120"/>
              </a:rPr>
              <a:t>Data</a:t>
            </a:r>
            <a:endParaRPr lang="en-US" sz="1700" dirty="0"/>
          </a:p>
        </p:txBody>
      </p:sp>
      <p:sp>
        <p:nvSpPr>
          <p:cNvPr id="4" name="Text 2"/>
          <p:cNvSpPr/>
          <p:nvPr/>
        </p:nvSpPr>
        <p:spPr>
          <a:xfrm>
            <a:off x="548640" y="1600200"/>
            <a:ext cx="5212080" cy="219456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3,200 organiser pairs → 3,000 train / 100 validation / 100 held-out test</a:t>
            </a:r>
            <a:endParaRPr lang="en-US" sz="1350" dirty="0"/>
          </a:p>
          <a:p>
            <a:pPr marL="342900" indent="-3429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Seeded split (seed 42) — reproducible on any machine</a:t>
            </a:r>
            <a:endParaRPr lang="en-US" sz="1350" dirty="0"/>
          </a:p>
          <a:p>
            <a:pPr marL="342900" indent="-3429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128 px random crops · batch of 16 — more examples per GPU step</a:t>
            </a:r>
            <a:endParaRPr lang="en-US" sz="1350" dirty="0"/>
          </a:p>
          <a:p>
            <a:pPr marL="342900" indent="-3429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8× augmentation: flips + 90° rotations applied identically to input and target</a:t>
            </a:r>
            <a:endParaRPr lang="en-US" sz="1350" dirty="0"/>
          </a:p>
        </p:txBody>
      </p:sp>
      <p:sp>
        <p:nvSpPr>
          <p:cNvPr id="5" name="Text 3"/>
          <p:cNvSpPr/>
          <p:nvPr/>
        </p:nvSpPr>
        <p:spPr>
          <a:xfrm>
            <a:off x="6309360" y="1234440"/>
            <a:ext cx="5212080" cy="320040"/>
          </a:xfrm>
          <a:prstGeom prst="rect">
            <a:avLst/>
          </a:prstGeom>
          <a:noFill/>
          <a:ln/>
        </p:spPr>
        <p:txBody>
          <a:bodyPr wrap="square" lIns="0" tIns="0" rIns="0" bIns="0" rtlCol="0" anchor="ctr"/>
          <a:lstStyle/>
          <a:p>
            <a:pPr indent="0" marL="0">
              <a:buNone/>
            </a:pPr>
            <a:r>
              <a:rPr lang="en-US" sz="1700" b="1" dirty="0">
                <a:solidFill>
                  <a:srgbClr val="1E2761"/>
                </a:solidFill>
                <a:latin typeface="Arial" pitchFamily="34" charset="0"/>
                <a:ea typeface="Arial" pitchFamily="34" charset="-122"/>
                <a:cs typeface="Arial" pitchFamily="34" charset="-120"/>
              </a:rPr>
              <a:t>Optimisation</a:t>
            </a:r>
            <a:endParaRPr lang="en-US" sz="1700" dirty="0"/>
          </a:p>
        </p:txBody>
      </p:sp>
      <p:sp>
        <p:nvSpPr>
          <p:cNvPr id="6" name="Text 4"/>
          <p:cNvSpPr/>
          <p:nvPr/>
        </p:nvSpPr>
        <p:spPr>
          <a:xfrm>
            <a:off x="6309360" y="1600200"/>
            <a:ext cx="5303520" cy="219456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Loss = Charbonnier + 0.15·SSIM + 0.05·LPIPS  (fidelity leads)</a:t>
            </a:r>
            <a:endParaRPr lang="en-US" sz="1350" dirty="0"/>
          </a:p>
          <a:p>
            <a:pPr marL="342900" indent="-3429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AdamW, lr 2e-4, cosine decay to 1e-7 over 100 epochs</a:t>
            </a:r>
            <a:endParaRPr lang="en-US" sz="1350" dirty="0"/>
          </a:p>
          <a:p>
            <a:pPr marL="342900" indent="-3429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Gradient clipping — one bad batch cannot wreck the run</a:t>
            </a:r>
            <a:endParaRPr lang="en-US" sz="1350" dirty="0"/>
          </a:p>
          <a:p>
            <a:pPr marL="342900" indent="-3429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Validate every 5 epochs; keep the best-PSNR checkpoint (epoch 85)</a:t>
            </a:r>
            <a:endParaRPr lang="en-US" sz="1350" dirty="0"/>
          </a:p>
        </p:txBody>
      </p:sp>
      <p:sp>
        <p:nvSpPr>
          <p:cNvPr id="7" name="Text 5"/>
          <p:cNvSpPr/>
          <p:nvPr/>
        </p:nvSpPr>
        <p:spPr>
          <a:xfrm>
            <a:off x="548640" y="3931920"/>
            <a:ext cx="5486400" cy="320040"/>
          </a:xfrm>
          <a:prstGeom prst="rect">
            <a:avLst/>
          </a:prstGeom>
          <a:noFill/>
          <a:ln/>
        </p:spPr>
        <p:txBody>
          <a:bodyPr wrap="square" lIns="0" tIns="0" rIns="0" bIns="0" rtlCol="0" anchor="ctr"/>
          <a:lstStyle/>
          <a:p>
            <a:pPr indent="0" marL="0">
              <a:buNone/>
            </a:pPr>
            <a:r>
              <a:rPr lang="en-US" sz="1500" b="1" dirty="0">
                <a:solidFill>
                  <a:srgbClr val="1E2761"/>
                </a:solidFill>
                <a:latin typeface="Arial" pitchFamily="34" charset="0"/>
                <a:ea typeface="Arial" pitchFamily="34" charset="-122"/>
                <a:cs typeface="Arial" pitchFamily="34" charset="-120"/>
              </a:rPr>
              <a:t>Validation PSNR during training</a:t>
            </a:r>
            <a:endParaRPr lang="en-US" sz="1500" dirty="0"/>
          </a:p>
        </p:txBody>
      </p:sp>
      <p:sp>
        <p:nvSpPr>
          <p:cNvPr id="8" name="Text 6"/>
          <p:cNvSpPr/>
          <p:nvPr/>
        </p:nvSpPr>
        <p:spPr>
          <a:xfrm>
            <a:off x="548640" y="4343400"/>
            <a:ext cx="2606040" cy="914400"/>
          </a:xfrm>
          <a:prstGeom prst="roundRect">
            <a:avLst>
              <a:gd name="adj" fmla="val 8000"/>
            </a:avLst>
          </a:prstGeom>
          <a:solidFill>
            <a:srgbClr val="F4F7FD"/>
          </a:solidFill>
          <a:ln/>
        </p:spPr>
        <p:txBody>
          <a:bodyPr wrap="square" lIns="0" tIns="0" rIns="0" bIns="0" rtlCol="0" anchor="ctr"/>
          <a:lstStyle/>
          <a:p>
            <a:pPr algn="ctr" indent="0" marL="0">
              <a:buNone/>
            </a:pPr>
            <a:r>
              <a:rPr lang="en-US" sz="2000" b="1" dirty="0">
                <a:solidFill>
                  <a:srgbClr val="0A8F72"/>
                </a:solidFill>
                <a:latin typeface="Arial" pitchFamily="34" charset="0"/>
                <a:ea typeface="Arial" pitchFamily="34" charset="-122"/>
                <a:cs typeface="Arial" pitchFamily="34" charset="-120"/>
              </a:rPr>
              <a:t>26.16 dB</a:t>
            </a:r>
            <a:endParaRPr lang="en-US" sz="2000" dirty="0"/>
          </a:p>
          <a:p>
            <a:pPr algn="ctr" indent="0" marL="0">
              <a:buNone/>
            </a:pPr>
            <a:r>
              <a:rPr lang="en-US" sz="1100" dirty="0">
                <a:solidFill>
                  <a:srgbClr val="5A6478"/>
                </a:solidFill>
                <a:latin typeface="Arial" pitchFamily="34" charset="0"/>
                <a:ea typeface="Arial" pitchFamily="34" charset="-122"/>
                <a:cs typeface="Arial" pitchFamily="34" charset="-120"/>
              </a:rPr>
              <a:t>epoch 5</a:t>
            </a:r>
            <a:endParaRPr lang="en-US" sz="2000" dirty="0"/>
          </a:p>
        </p:txBody>
      </p:sp>
      <p:sp>
        <p:nvSpPr>
          <p:cNvPr id="9" name="Text 7"/>
          <p:cNvSpPr/>
          <p:nvPr/>
        </p:nvSpPr>
        <p:spPr>
          <a:xfrm>
            <a:off x="3337560" y="4343400"/>
            <a:ext cx="2606040" cy="914400"/>
          </a:xfrm>
          <a:prstGeom prst="roundRect">
            <a:avLst>
              <a:gd name="adj" fmla="val 8000"/>
            </a:avLst>
          </a:prstGeom>
          <a:solidFill>
            <a:srgbClr val="F4F7FD"/>
          </a:solidFill>
          <a:ln/>
        </p:spPr>
        <p:txBody>
          <a:bodyPr wrap="square" lIns="0" tIns="0" rIns="0" bIns="0" rtlCol="0" anchor="ctr"/>
          <a:lstStyle/>
          <a:p>
            <a:pPr algn="ctr" indent="0" marL="0">
              <a:buNone/>
            </a:pPr>
            <a:r>
              <a:rPr lang="en-US" sz="2000" b="1" dirty="0">
                <a:solidFill>
                  <a:srgbClr val="0A8F72"/>
                </a:solidFill>
                <a:latin typeface="Arial" pitchFamily="34" charset="0"/>
                <a:ea typeface="Arial" pitchFamily="34" charset="-122"/>
                <a:cs typeface="Arial" pitchFamily="34" charset="-120"/>
              </a:rPr>
              <a:t>27.15 dB</a:t>
            </a:r>
            <a:endParaRPr lang="en-US" sz="2000" dirty="0"/>
          </a:p>
          <a:p>
            <a:pPr algn="ctr" indent="0" marL="0">
              <a:buNone/>
            </a:pPr>
            <a:r>
              <a:rPr lang="en-US" sz="1100" dirty="0">
                <a:solidFill>
                  <a:srgbClr val="5A6478"/>
                </a:solidFill>
                <a:latin typeface="Arial" pitchFamily="34" charset="0"/>
                <a:ea typeface="Arial" pitchFamily="34" charset="-122"/>
                <a:cs typeface="Arial" pitchFamily="34" charset="-120"/>
              </a:rPr>
              <a:t>epoch 30</a:t>
            </a:r>
            <a:endParaRPr lang="en-US" sz="2000" dirty="0"/>
          </a:p>
        </p:txBody>
      </p:sp>
      <p:sp>
        <p:nvSpPr>
          <p:cNvPr id="10" name="Text 8"/>
          <p:cNvSpPr/>
          <p:nvPr/>
        </p:nvSpPr>
        <p:spPr>
          <a:xfrm>
            <a:off x="6126480" y="4343400"/>
            <a:ext cx="2606040" cy="914400"/>
          </a:xfrm>
          <a:prstGeom prst="roundRect">
            <a:avLst>
              <a:gd name="adj" fmla="val 8000"/>
            </a:avLst>
          </a:prstGeom>
          <a:solidFill>
            <a:srgbClr val="F4F7FD"/>
          </a:solidFill>
          <a:ln/>
        </p:spPr>
        <p:txBody>
          <a:bodyPr wrap="square" lIns="0" tIns="0" rIns="0" bIns="0" rtlCol="0" anchor="ctr"/>
          <a:lstStyle/>
          <a:p>
            <a:pPr algn="ctr" indent="0" marL="0">
              <a:buNone/>
            </a:pPr>
            <a:r>
              <a:rPr lang="en-US" sz="2000" b="1" dirty="0">
                <a:solidFill>
                  <a:srgbClr val="0A8F72"/>
                </a:solidFill>
                <a:latin typeface="Arial" pitchFamily="34" charset="0"/>
                <a:ea typeface="Arial" pitchFamily="34" charset="-122"/>
                <a:cs typeface="Arial" pitchFamily="34" charset="-120"/>
              </a:rPr>
              <a:t>27.27 dB</a:t>
            </a:r>
            <a:endParaRPr lang="en-US" sz="2000" dirty="0"/>
          </a:p>
          <a:p>
            <a:pPr algn="ctr" indent="0" marL="0">
              <a:buNone/>
            </a:pPr>
            <a:r>
              <a:rPr lang="en-US" sz="1100" dirty="0">
                <a:solidFill>
                  <a:srgbClr val="5A6478"/>
                </a:solidFill>
                <a:latin typeface="Arial" pitchFamily="34" charset="0"/>
                <a:ea typeface="Arial" pitchFamily="34" charset="-122"/>
                <a:cs typeface="Arial" pitchFamily="34" charset="-120"/>
              </a:rPr>
              <a:t>epoch 60</a:t>
            </a:r>
            <a:endParaRPr lang="en-US" sz="2000" dirty="0"/>
          </a:p>
        </p:txBody>
      </p:sp>
      <p:sp>
        <p:nvSpPr>
          <p:cNvPr id="11" name="Text 9"/>
          <p:cNvSpPr/>
          <p:nvPr/>
        </p:nvSpPr>
        <p:spPr>
          <a:xfrm>
            <a:off x="8915400" y="4343400"/>
            <a:ext cx="2606040" cy="914400"/>
          </a:xfrm>
          <a:prstGeom prst="roundRect">
            <a:avLst>
              <a:gd name="adj" fmla="val 8000"/>
            </a:avLst>
          </a:prstGeom>
          <a:solidFill>
            <a:srgbClr val="F4F7FD"/>
          </a:solidFill>
          <a:ln/>
        </p:spPr>
        <p:txBody>
          <a:bodyPr wrap="square" lIns="0" tIns="0" rIns="0" bIns="0" rtlCol="0" anchor="ctr"/>
          <a:lstStyle/>
          <a:p>
            <a:pPr algn="ctr" indent="0" marL="0">
              <a:buNone/>
            </a:pPr>
            <a:r>
              <a:rPr lang="en-US" sz="2000" b="1" dirty="0">
                <a:solidFill>
                  <a:srgbClr val="0A8F72"/>
                </a:solidFill>
                <a:latin typeface="Arial" pitchFamily="34" charset="0"/>
                <a:ea typeface="Arial" pitchFamily="34" charset="-122"/>
                <a:cs typeface="Arial" pitchFamily="34" charset="-120"/>
              </a:rPr>
              <a:t>27.33 dB</a:t>
            </a:r>
            <a:endParaRPr lang="en-US" sz="2000" dirty="0"/>
          </a:p>
          <a:p>
            <a:pPr algn="ctr" indent="0" marL="0">
              <a:buNone/>
            </a:pPr>
            <a:r>
              <a:rPr lang="en-US" sz="1100" dirty="0">
                <a:solidFill>
                  <a:srgbClr val="5A6478"/>
                </a:solidFill>
                <a:latin typeface="Arial" pitchFamily="34" charset="0"/>
                <a:ea typeface="Arial" pitchFamily="34" charset="-122"/>
                <a:cs typeface="Arial" pitchFamily="34" charset="-120"/>
              </a:rPr>
              <a:t>epoch 85</a:t>
            </a:r>
            <a:endParaRPr lang="en-US" sz="2000" dirty="0"/>
          </a:p>
        </p:txBody>
      </p:sp>
      <p:sp>
        <p:nvSpPr>
          <p:cNvPr id="12" name="Text 10"/>
          <p:cNvSpPr/>
          <p:nvPr/>
        </p:nvSpPr>
        <p:spPr>
          <a:xfrm>
            <a:off x="548640" y="5486400"/>
            <a:ext cx="11018520" cy="594360"/>
          </a:xfrm>
          <a:prstGeom prst="roundRect">
            <a:avLst>
              <a:gd name="adj" fmla="val 15385"/>
            </a:avLst>
          </a:prstGeom>
          <a:solidFill>
            <a:srgbClr val="1E2761"/>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Trained free on a Google Colab T4 · 74 s/epoch · ≈ 2 hours total · resumable checkpoints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E2761"/>
                </a:solidFill>
                <a:latin typeface="Arial" pitchFamily="34" charset="0"/>
                <a:ea typeface="Arial" pitchFamily="34" charset="-122"/>
                <a:cs typeface="Arial" pitchFamily="34" charset="-120"/>
              </a:rPr>
              <a:t>Innovation</a:t>
            </a:r>
            <a:endParaRPr lang="en-US" sz="3200" dirty="0"/>
          </a:p>
        </p:txBody>
      </p:sp>
      <p:sp>
        <p:nvSpPr>
          <p:cNvPr id="3" name="Shape 1"/>
          <p:cNvSpPr/>
          <p:nvPr/>
        </p:nvSpPr>
        <p:spPr>
          <a:xfrm>
            <a:off x="548640" y="1417320"/>
            <a:ext cx="5486400" cy="2103120"/>
          </a:xfrm>
          <a:prstGeom prst="roundRect">
            <a:avLst>
              <a:gd name="adj" fmla="val 4348"/>
            </a:avLst>
          </a:prstGeom>
          <a:solidFill>
            <a:srgbClr val="F4F7FD"/>
          </a:solidFill>
          <a:ln/>
        </p:spPr>
      </p:sp>
      <p:sp>
        <p:nvSpPr>
          <p:cNvPr id="4" name="Text 2"/>
          <p:cNvSpPr/>
          <p:nvPr/>
        </p:nvSpPr>
        <p:spPr>
          <a:xfrm>
            <a:off x="777240" y="1645920"/>
            <a:ext cx="457200" cy="457200"/>
          </a:xfrm>
          <a:prstGeom prst="ellipse">
            <a:avLst/>
          </a:prstGeom>
          <a:solidFill>
            <a:srgbClr val="02C39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5" name="Text 3"/>
          <p:cNvSpPr/>
          <p:nvPr/>
        </p:nvSpPr>
        <p:spPr>
          <a:xfrm>
            <a:off x="1417320" y="1581912"/>
            <a:ext cx="4480560" cy="1828800"/>
          </a:xfrm>
          <a:prstGeom prst="rect">
            <a:avLst/>
          </a:prstGeom>
          <a:noFill/>
          <a:ln/>
        </p:spPr>
        <p:txBody>
          <a:bodyPr wrap="square" lIns="0" tIns="0" rIns="0" bIns="0" rtlCol="0" anchor="t"/>
          <a:lstStyle/>
          <a:p>
            <a:pPr indent="0" marL="0">
              <a:spcAft>
                <a:spcPts val="600"/>
              </a:spcAft>
              <a:buNone/>
            </a:pPr>
            <a:r>
              <a:rPr lang="en-US" sz="1650" b="1" dirty="0">
                <a:solidFill>
                  <a:srgbClr val="1E2761"/>
                </a:solidFill>
                <a:latin typeface="Calibri" pitchFamily="34" charset="0"/>
                <a:ea typeface="Calibri" pitchFamily="34" charset="-122"/>
                <a:cs typeface="Calibri" pitchFamily="34" charset="-120"/>
              </a:rPr>
              <a:t>Simplicity as strategy</a:t>
            </a:r>
            <a:endParaRPr lang="en-US" sz="1650" dirty="0"/>
          </a:p>
          <a:p>
            <a:pPr indent="0" marL="0">
              <a:spcAft>
                <a:spcPts val="600"/>
              </a:spcAft>
              <a:buNone/>
            </a:pPr>
            <a:r>
              <a:rPr lang="en-US" sz="1250" dirty="0">
                <a:solidFill>
                  <a:srgbClr val="333333"/>
                </a:solidFill>
                <a:latin typeface="Calibri" pitchFamily="34" charset="0"/>
                <a:ea typeface="Calibri" pitchFamily="34" charset="-122"/>
                <a:cs typeface="Calibri" pitchFamily="34" charset="-120"/>
              </a:rPr>
              <a:t>State-of-the-art restoration family at 0.53 M parameters. Small enough to train free, run on CPU, and for the team to explain and debug every single line.</a:t>
            </a:r>
            <a:endParaRPr lang="en-US" sz="1650" dirty="0"/>
          </a:p>
        </p:txBody>
      </p:sp>
      <p:sp>
        <p:nvSpPr>
          <p:cNvPr id="6" name="Shape 4"/>
          <p:cNvSpPr/>
          <p:nvPr/>
        </p:nvSpPr>
        <p:spPr>
          <a:xfrm>
            <a:off x="6309360" y="1417320"/>
            <a:ext cx="5486400" cy="2103120"/>
          </a:xfrm>
          <a:prstGeom prst="roundRect">
            <a:avLst>
              <a:gd name="adj" fmla="val 4348"/>
            </a:avLst>
          </a:prstGeom>
          <a:solidFill>
            <a:srgbClr val="F4F7FD"/>
          </a:solidFill>
          <a:ln/>
        </p:spPr>
      </p:sp>
      <p:sp>
        <p:nvSpPr>
          <p:cNvPr id="7" name="Text 5"/>
          <p:cNvSpPr/>
          <p:nvPr/>
        </p:nvSpPr>
        <p:spPr>
          <a:xfrm>
            <a:off x="6537960" y="1645920"/>
            <a:ext cx="457200" cy="457200"/>
          </a:xfrm>
          <a:prstGeom prst="ellipse">
            <a:avLst/>
          </a:prstGeom>
          <a:solidFill>
            <a:srgbClr val="02C39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8" name="Text 6"/>
          <p:cNvSpPr/>
          <p:nvPr/>
        </p:nvSpPr>
        <p:spPr>
          <a:xfrm>
            <a:off x="7178040" y="1581912"/>
            <a:ext cx="4480560" cy="1828800"/>
          </a:xfrm>
          <a:prstGeom prst="rect">
            <a:avLst/>
          </a:prstGeom>
          <a:noFill/>
          <a:ln/>
        </p:spPr>
        <p:txBody>
          <a:bodyPr wrap="square" lIns="0" tIns="0" rIns="0" bIns="0" rtlCol="0" anchor="t"/>
          <a:lstStyle/>
          <a:p>
            <a:pPr indent="0" marL="0">
              <a:spcAft>
                <a:spcPts val="600"/>
              </a:spcAft>
              <a:buNone/>
            </a:pPr>
            <a:r>
              <a:rPr lang="en-US" sz="1650" b="1" dirty="0">
                <a:solidFill>
                  <a:srgbClr val="1E2761"/>
                </a:solidFill>
                <a:latin typeface="Calibri" pitchFamily="34" charset="0"/>
                <a:ea typeface="Calibri" pitchFamily="34" charset="-122"/>
                <a:cs typeface="Calibri" pitchFamily="34" charset="-120"/>
              </a:rPr>
              <a:t>Train on the scoreboard</a:t>
            </a:r>
            <a:endParaRPr lang="en-US" sz="1650" dirty="0"/>
          </a:p>
          <a:p>
            <a:pPr indent="0" marL="0">
              <a:spcAft>
                <a:spcPts val="600"/>
              </a:spcAft>
              <a:buNone/>
            </a:pPr>
            <a:r>
              <a:rPr lang="en-US" sz="1250" dirty="0">
                <a:solidFill>
                  <a:srgbClr val="333333"/>
                </a:solidFill>
                <a:latin typeface="Calibri" pitchFamily="34" charset="0"/>
                <a:ea typeface="Calibri" pitchFamily="34" charset="-122"/>
                <a:cs typeface="Calibri" pitchFamily="34" charset="-120"/>
              </a:rPr>
              <a:t>Loss = Charbonnier + SSIM + light LPIPS. Two of the three judged metrics are optimized directly during training — not hoped for afterwards.</a:t>
            </a:r>
            <a:endParaRPr lang="en-US" sz="1650" dirty="0"/>
          </a:p>
        </p:txBody>
      </p:sp>
      <p:sp>
        <p:nvSpPr>
          <p:cNvPr id="9" name="Shape 7"/>
          <p:cNvSpPr/>
          <p:nvPr/>
        </p:nvSpPr>
        <p:spPr>
          <a:xfrm>
            <a:off x="548640" y="3749040"/>
            <a:ext cx="5486400" cy="2103120"/>
          </a:xfrm>
          <a:prstGeom prst="roundRect">
            <a:avLst>
              <a:gd name="adj" fmla="val 4348"/>
            </a:avLst>
          </a:prstGeom>
          <a:solidFill>
            <a:srgbClr val="F4F7FD"/>
          </a:solidFill>
          <a:ln/>
        </p:spPr>
      </p:sp>
      <p:sp>
        <p:nvSpPr>
          <p:cNvPr id="10" name="Text 8"/>
          <p:cNvSpPr/>
          <p:nvPr/>
        </p:nvSpPr>
        <p:spPr>
          <a:xfrm>
            <a:off x="777240" y="3977640"/>
            <a:ext cx="457200" cy="457200"/>
          </a:xfrm>
          <a:prstGeom prst="ellipse">
            <a:avLst/>
          </a:prstGeom>
          <a:solidFill>
            <a:srgbClr val="02C39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1" name="Text 9"/>
          <p:cNvSpPr/>
          <p:nvPr/>
        </p:nvSpPr>
        <p:spPr>
          <a:xfrm>
            <a:off x="1417320" y="3913632"/>
            <a:ext cx="4480560" cy="1828800"/>
          </a:xfrm>
          <a:prstGeom prst="rect">
            <a:avLst/>
          </a:prstGeom>
          <a:noFill/>
          <a:ln/>
        </p:spPr>
        <p:txBody>
          <a:bodyPr wrap="square" lIns="0" tIns="0" rIns="0" bIns="0" rtlCol="0" anchor="t"/>
          <a:lstStyle/>
          <a:p>
            <a:pPr indent="0" marL="0">
              <a:spcAft>
                <a:spcPts val="600"/>
              </a:spcAft>
              <a:buNone/>
            </a:pPr>
            <a:r>
              <a:rPr lang="en-US" sz="1650" b="1" dirty="0">
                <a:solidFill>
                  <a:srgbClr val="1E2761"/>
                </a:solidFill>
                <a:latin typeface="Calibri" pitchFamily="34" charset="0"/>
                <a:ea typeface="Calibri" pitchFamily="34" charset="-122"/>
                <a:cs typeface="Calibri" pitchFamily="34" charset="-120"/>
              </a:rPr>
              <a:t>No-hallucination guarantee</a:t>
            </a:r>
            <a:endParaRPr lang="en-US" sz="1650" dirty="0"/>
          </a:p>
          <a:p>
            <a:pPr indent="0" marL="0">
              <a:spcAft>
                <a:spcPts val="600"/>
              </a:spcAft>
              <a:buNone/>
            </a:pPr>
            <a:r>
              <a:rPr lang="en-US" sz="1250" dirty="0">
                <a:solidFill>
                  <a:srgbClr val="333333"/>
                </a:solidFill>
                <a:latin typeface="Calibri" pitchFamily="34" charset="0"/>
                <a:ea typeface="Calibri" pitchFamily="34" charset="-122"/>
                <a:cs typeface="Calibri" pitchFamily="34" charset="-120"/>
              </a:rPr>
              <a:t>Global bicubic skip + deliberately no GAN loss. The model can only correct towards the input's real structure — invented defects are structurally impossible.</a:t>
            </a:r>
            <a:endParaRPr lang="en-US" sz="1650" dirty="0"/>
          </a:p>
        </p:txBody>
      </p:sp>
      <p:sp>
        <p:nvSpPr>
          <p:cNvPr id="12" name="Shape 10"/>
          <p:cNvSpPr/>
          <p:nvPr/>
        </p:nvSpPr>
        <p:spPr>
          <a:xfrm>
            <a:off x="6309360" y="3749040"/>
            <a:ext cx="5486400" cy="2103120"/>
          </a:xfrm>
          <a:prstGeom prst="roundRect">
            <a:avLst>
              <a:gd name="adj" fmla="val 4348"/>
            </a:avLst>
          </a:prstGeom>
          <a:solidFill>
            <a:srgbClr val="F4F7FD"/>
          </a:solidFill>
          <a:ln/>
        </p:spPr>
      </p:sp>
      <p:sp>
        <p:nvSpPr>
          <p:cNvPr id="13" name="Text 11"/>
          <p:cNvSpPr/>
          <p:nvPr/>
        </p:nvSpPr>
        <p:spPr>
          <a:xfrm>
            <a:off x="6537960" y="3977640"/>
            <a:ext cx="457200" cy="457200"/>
          </a:xfrm>
          <a:prstGeom prst="ellipse">
            <a:avLst/>
          </a:prstGeom>
          <a:solidFill>
            <a:srgbClr val="02C39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14" name="Text 12"/>
          <p:cNvSpPr/>
          <p:nvPr/>
        </p:nvSpPr>
        <p:spPr>
          <a:xfrm>
            <a:off x="7178040" y="3913632"/>
            <a:ext cx="4480560" cy="1828800"/>
          </a:xfrm>
          <a:prstGeom prst="rect">
            <a:avLst/>
          </a:prstGeom>
          <a:noFill/>
          <a:ln/>
        </p:spPr>
        <p:txBody>
          <a:bodyPr wrap="square" lIns="0" tIns="0" rIns="0" bIns="0" rtlCol="0" anchor="t"/>
          <a:lstStyle/>
          <a:p>
            <a:pPr indent="0" marL="0">
              <a:spcAft>
                <a:spcPts val="600"/>
              </a:spcAft>
              <a:buNone/>
            </a:pPr>
            <a:r>
              <a:rPr lang="en-US" sz="1650" b="1" dirty="0">
                <a:solidFill>
                  <a:srgbClr val="1E2761"/>
                </a:solidFill>
                <a:latin typeface="Calibri" pitchFamily="34" charset="0"/>
                <a:ea typeface="Calibri" pitchFamily="34" charset="-122"/>
                <a:cs typeface="Calibri" pitchFamily="34" charset="-120"/>
              </a:rPr>
              <a:t>Float-faithful pipeline</a:t>
            </a:r>
            <a:endParaRPr lang="en-US" sz="1650" dirty="0"/>
          </a:p>
          <a:p>
            <a:pPr indent="0" marL="0">
              <a:spcAft>
                <a:spcPts val="600"/>
              </a:spcAft>
              <a:buNone/>
            </a:pPr>
            <a:r>
              <a:rPr lang="en-US" sz="1250" dirty="0">
                <a:solidFill>
                  <a:srgbClr val="333333"/>
                </a:solidFill>
                <a:latin typeface="Calibri" pitchFamily="34" charset="0"/>
                <a:ea typeface="Calibri" pitchFamily="34" charset="-122"/>
                <a:cs typeface="Calibri" pitchFamily="34" charset="-120"/>
              </a:rPr>
              <a:t>Degraded inputs carry values outside [0,1] — real noise signal. Native float32 .npy I/O end to end; a PNG-based pipeline would silently clip and lose it.</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E2761"/>
                </a:solidFill>
                <a:latin typeface="Arial" pitchFamily="34" charset="0"/>
                <a:ea typeface="Arial" pitchFamily="34" charset="-122"/>
                <a:cs typeface="Arial" pitchFamily="34" charset="-120"/>
              </a:rPr>
              <a:t>Results — better on every judged metric</a:t>
            </a:r>
            <a:endParaRPr lang="en-US" sz="3200" dirty="0"/>
          </a:p>
        </p:txBody>
      </p:sp>
      <p:sp>
        <p:nvSpPr>
          <p:cNvPr id="3" name="Text 1"/>
          <p:cNvSpPr/>
          <p:nvPr/>
        </p:nvSpPr>
        <p:spPr>
          <a:xfrm>
            <a:off x="548640" y="1188720"/>
            <a:ext cx="2697480" cy="1325880"/>
          </a:xfrm>
          <a:prstGeom prst="rect">
            <a:avLst/>
          </a:prstGeom>
          <a:noFill/>
          <a:ln/>
        </p:spPr>
        <p:txBody>
          <a:bodyPr wrap="square" lIns="0" tIns="0" rIns="0" bIns="0" rtlCol="0" anchor="ctr"/>
          <a:lstStyle/>
          <a:p>
            <a:pPr algn="l" indent="0" marL="0">
              <a:buNone/>
            </a:pPr>
            <a:r>
              <a:rPr lang="en-US" sz="3800" b="1" dirty="0">
                <a:solidFill>
                  <a:srgbClr val="0A8F72"/>
                </a:solidFill>
                <a:latin typeface="Arial" pitchFamily="34" charset="0"/>
                <a:ea typeface="Arial" pitchFamily="34" charset="-122"/>
                <a:cs typeface="Arial" pitchFamily="34" charset="-120"/>
              </a:rPr>
              <a:t>+5.0 dB</a:t>
            </a:r>
            <a:endParaRPr lang="en-US" sz="3800" dirty="0"/>
          </a:p>
          <a:p>
            <a:pPr algn="l" indent="0" marL="0">
              <a:buNone/>
            </a:pPr>
            <a:r>
              <a:rPr lang="en-US" sz="1150" dirty="0">
                <a:solidFill>
                  <a:srgbClr val="5A6478"/>
                </a:solidFill>
                <a:latin typeface="Arial" pitchFamily="34" charset="0"/>
                <a:ea typeface="Arial" pitchFamily="34" charset="-122"/>
                <a:cs typeface="Arial" pitchFamily="34" charset="-120"/>
              </a:rPr>
              <a:t>PSNR gain vs baseline</a:t>
            </a:r>
            <a:endParaRPr lang="en-US" sz="3800" dirty="0"/>
          </a:p>
        </p:txBody>
      </p:sp>
      <p:sp>
        <p:nvSpPr>
          <p:cNvPr id="4" name="Text 2"/>
          <p:cNvSpPr/>
          <p:nvPr/>
        </p:nvSpPr>
        <p:spPr>
          <a:xfrm>
            <a:off x="3383280" y="1188720"/>
            <a:ext cx="2697480" cy="1325880"/>
          </a:xfrm>
          <a:prstGeom prst="rect">
            <a:avLst/>
          </a:prstGeom>
          <a:noFill/>
          <a:ln/>
        </p:spPr>
        <p:txBody>
          <a:bodyPr wrap="square" lIns="0" tIns="0" rIns="0" bIns="0" rtlCol="0" anchor="ctr"/>
          <a:lstStyle/>
          <a:p>
            <a:pPr algn="l" indent="0" marL="0">
              <a:buNone/>
            </a:pPr>
            <a:r>
              <a:rPr lang="en-US" sz="3800" b="1" dirty="0">
                <a:solidFill>
                  <a:srgbClr val="0A8F72"/>
                </a:solidFill>
                <a:latin typeface="Arial" pitchFamily="34" charset="0"/>
                <a:ea typeface="Arial" pitchFamily="34" charset="-122"/>
                <a:cs typeface="Arial" pitchFamily="34" charset="-120"/>
              </a:rPr>
              <a:t>+0.22</a:t>
            </a:r>
            <a:endParaRPr lang="en-US" sz="3800" dirty="0"/>
          </a:p>
          <a:p>
            <a:pPr algn="l" indent="0" marL="0">
              <a:buNone/>
            </a:pPr>
            <a:r>
              <a:rPr lang="en-US" sz="1150" dirty="0">
                <a:solidFill>
                  <a:srgbClr val="5A6478"/>
                </a:solidFill>
                <a:latin typeface="Arial" pitchFamily="34" charset="0"/>
                <a:ea typeface="Arial" pitchFamily="34" charset="-122"/>
                <a:cs typeface="Arial" pitchFamily="34" charset="-120"/>
              </a:rPr>
              <a:t>SSIM (0.54 → 0.76)</a:t>
            </a:r>
            <a:endParaRPr lang="en-US" sz="3800" dirty="0"/>
          </a:p>
        </p:txBody>
      </p:sp>
      <p:sp>
        <p:nvSpPr>
          <p:cNvPr id="5" name="Text 3"/>
          <p:cNvSpPr/>
          <p:nvPr/>
        </p:nvSpPr>
        <p:spPr>
          <a:xfrm>
            <a:off x="6217920" y="1188720"/>
            <a:ext cx="2697480" cy="1325880"/>
          </a:xfrm>
          <a:prstGeom prst="rect">
            <a:avLst/>
          </a:prstGeom>
          <a:noFill/>
          <a:ln/>
        </p:spPr>
        <p:txBody>
          <a:bodyPr wrap="square" lIns="0" tIns="0" rIns="0" bIns="0" rtlCol="0" anchor="ctr"/>
          <a:lstStyle/>
          <a:p>
            <a:pPr algn="l" indent="0" marL="0">
              <a:buNone/>
            </a:pPr>
            <a:r>
              <a:rPr lang="en-US" sz="3800" b="1" dirty="0">
                <a:solidFill>
                  <a:srgbClr val="0A8F72"/>
                </a:solidFill>
                <a:latin typeface="Arial" pitchFamily="34" charset="0"/>
                <a:ea typeface="Arial" pitchFamily="34" charset="-122"/>
                <a:cs typeface="Arial" pitchFamily="34" charset="-120"/>
              </a:rPr>
              <a:t>−60 %</a:t>
            </a:r>
            <a:endParaRPr lang="en-US" sz="3800" dirty="0"/>
          </a:p>
          <a:p>
            <a:pPr algn="l" indent="0" marL="0">
              <a:buNone/>
            </a:pPr>
            <a:r>
              <a:rPr lang="en-US" sz="1150" dirty="0">
                <a:solidFill>
                  <a:srgbClr val="5A6478"/>
                </a:solidFill>
                <a:latin typeface="Arial" pitchFamily="34" charset="0"/>
                <a:ea typeface="Arial" pitchFamily="34" charset="-122"/>
                <a:cs typeface="Arial" pitchFamily="34" charset="-120"/>
              </a:rPr>
              <a:t>LPIPS (lower is better)</a:t>
            </a:r>
            <a:endParaRPr lang="en-US" sz="3800" dirty="0"/>
          </a:p>
        </p:txBody>
      </p:sp>
      <p:sp>
        <p:nvSpPr>
          <p:cNvPr id="6" name="Text 4"/>
          <p:cNvSpPr/>
          <p:nvPr/>
        </p:nvSpPr>
        <p:spPr>
          <a:xfrm>
            <a:off x="9052560" y="1188720"/>
            <a:ext cx="2697480" cy="1325880"/>
          </a:xfrm>
          <a:prstGeom prst="rect">
            <a:avLst/>
          </a:prstGeom>
          <a:noFill/>
          <a:ln/>
        </p:spPr>
        <p:txBody>
          <a:bodyPr wrap="square" lIns="0" tIns="0" rIns="0" bIns="0" rtlCol="0" anchor="ctr"/>
          <a:lstStyle/>
          <a:p>
            <a:pPr algn="l" indent="0" marL="0">
              <a:buNone/>
            </a:pPr>
            <a:r>
              <a:rPr lang="en-US" sz="3800" b="1" dirty="0">
                <a:solidFill>
                  <a:srgbClr val="1E2761"/>
                </a:solidFill>
                <a:latin typeface="Arial" pitchFamily="34" charset="0"/>
                <a:ea typeface="Arial" pitchFamily="34" charset="-122"/>
                <a:cs typeface="Arial" pitchFamily="34" charset="-120"/>
              </a:rPr>
              <a:t>1.2 s</a:t>
            </a:r>
            <a:endParaRPr lang="en-US" sz="3800" dirty="0"/>
          </a:p>
          <a:p>
            <a:pPr algn="l" indent="0" marL="0">
              <a:buNone/>
            </a:pPr>
            <a:r>
              <a:rPr lang="en-US" sz="1150" dirty="0">
                <a:solidFill>
                  <a:srgbClr val="5A6478"/>
                </a:solidFill>
                <a:latin typeface="Arial" pitchFamily="34" charset="0"/>
                <a:ea typeface="Arial" pitchFamily="34" charset="-122"/>
                <a:cs typeface="Arial" pitchFamily="34" charset="-120"/>
              </a:rPr>
              <a:t>per image on plain CPU</a:t>
            </a:r>
            <a:endParaRPr lang="en-US" sz="3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5029200" cy="914400"/>
        </p:xfrm>
        <a:graphic>
          <a:graphicData uri="http://schemas.openxmlformats.org/drawingml/2006/table">
            <a:tbl>
              <a:tblPr/>
              <a:tblGrid>
                <a:gridCol w="2011680"/>
                <a:gridCol w="1097280"/>
                <a:gridCol w="914400"/>
                <a:gridCol w="100584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91440" marR="91440" marT="45720" marB="4572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PSNR ↑</a:t>
                      </a:r>
                      <a:endParaRPr lang="en-US" sz="1300" dirty="0">
                        <a:latin typeface="Calibri" charset="0"/>
                        <a:ea typeface="Calibri" charset="0"/>
                        <a:cs typeface="Calibri" charset="0"/>
                      </a:endParaRPr>
                    </a:p>
                  </a:txBody>
                  <a:tcPr marL="91440" marR="91440" marT="45720" marB="4572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SSIM ↑</a:t>
                      </a:r>
                      <a:endParaRPr lang="en-US" sz="1300" dirty="0">
                        <a:latin typeface="Calibri" charset="0"/>
                        <a:ea typeface="Calibri" charset="0"/>
                        <a:cs typeface="Calibri" charset="0"/>
                      </a:endParaRPr>
                    </a:p>
                  </a:txBody>
                  <a:tcPr marL="91440" marR="91440" marT="45720" marB="4572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LPIPS ↓</a:t>
                      </a:r>
                      <a:endParaRPr lang="en-US" sz="1300" dirty="0">
                        <a:latin typeface="Calibri" charset="0"/>
                        <a:ea typeface="Calibri" charset="0"/>
                        <a:cs typeface="Calibri" charset="0"/>
                      </a:endParaRPr>
                    </a:p>
                  </a:txBody>
                  <a:tcPr marL="91440" marR="91440" marT="45720" marB="4572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1E2761"/>
                    </a:solidFill>
                  </a:tcPr>
                </a:tc>
              </a:tr>
              <a:tr h="41148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Bicubic (no AI)</a:t>
                      </a:r>
                      <a:endParaRPr lang="en-US" sz="1300" dirty="0">
                        <a:latin typeface="Calibri" charset="0"/>
                        <a:ea typeface="Calibri" charset="0"/>
                        <a:cs typeface="Calibri" charset="0"/>
                      </a:endParaRPr>
                    </a:p>
                  </a:txBody>
                  <a:tcPr marL="91440" marR="91440" marT="45720" marB="4572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22.96 dB</a:t>
                      </a:r>
                      <a:endParaRPr lang="en-US" sz="1300" dirty="0">
                        <a:latin typeface="Calibri" charset="0"/>
                        <a:ea typeface="Calibri" charset="0"/>
                        <a:cs typeface="Calibri" charset="0"/>
                      </a:endParaRPr>
                    </a:p>
                  </a:txBody>
                  <a:tcPr marL="91440" marR="91440" marT="45720" marB="4572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0.537</a:t>
                      </a:r>
                      <a:endParaRPr lang="en-US" sz="1300" dirty="0">
                        <a:latin typeface="Calibri" charset="0"/>
                        <a:ea typeface="Calibri" charset="0"/>
                        <a:cs typeface="Calibri" charset="0"/>
                      </a:endParaRPr>
                    </a:p>
                  </a:txBody>
                  <a:tcPr marL="91440" marR="91440" marT="45720" marB="4572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0.433</a:t>
                      </a:r>
                      <a:endParaRPr lang="en-US" sz="1300" dirty="0">
                        <a:latin typeface="Calibri" charset="0"/>
                        <a:ea typeface="Calibri" charset="0"/>
                        <a:cs typeface="Calibri" charset="0"/>
                      </a:endParaRPr>
                    </a:p>
                  </a:txBody>
                  <a:tcPr marL="91440" marR="91440" marT="45720" marB="4572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tcPr>
                </a:tc>
              </a:tr>
              <a:tr h="411480">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Ours (NAFNet-SR)</a:t>
                      </a:r>
                      <a:endParaRPr lang="en-US" sz="1300" dirty="0">
                        <a:latin typeface="Calibri" charset="0"/>
                        <a:ea typeface="Calibri" charset="0"/>
                        <a:cs typeface="Calibri" charset="0"/>
                      </a:endParaRPr>
                    </a:p>
                  </a:txBody>
                  <a:tcPr marL="91440" marR="91440" marT="45720" marB="4572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tcPr>
                </a:tc>
                <a:tc>
                  <a:txBody>
                    <a:bodyPr/>
                    <a:lstStyle/>
                    <a:p>
                      <a:pPr indent="0" marL="0">
                        <a:buNone/>
                      </a:pPr>
                      <a:r>
                        <a:rPr lang="en-US" sz="1300" b="1" dirty="0">
                          <a:solidFill>
                            <a:srgbClr val="0A8F72"/>
                          </a:solidFill>
                          <a:latin typeface="Calibri" pitchFamily="34" charset="0"/>
                          <a:ea typeface="Calibri" pitchFamily="34" charset="-122"/>
                          <a:cs typeface="Calibri" pitchFamily="34" charset="-120"/>
                        </a:rPr>
                        <a:t>28.00 dB</a:t>
                      </a:r>
                      <a:endParaRPr lang="en-US" sz="1300" dirty="0">
                        <a:latin typeface="Calibri" charset="0"/>
                        <a:ea typeface="Calibri" charset="0"/>
                        <a:cs typeface="Calibri" charset="0"/>
                      </a:endParaRPr>
                    </a:p>
                  </a:txBody>
                  <a:tcPr marL="91440" marR="91440" marT="45720" marB="4572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tcPr>
                </a:tc>
                <a:tc>
                  <a:txBody>
                    <a:bodyPr/>
                    <a:lstStyle/>
                    <a:p>
                      <a:pPr indent="0" marL="0">
                        <a:buNone/>
                      </a:pPr>
                      <a:r>
                        <a:rPr lang="en-US" sz="1300" b="1" dirty="0">
                          <a:solidFill>
                            <a:srgbClr val="0A8F72"/>
                          </a:solidFill>
                          <a:latin typeface="Calibri" pitchFamily="34" charset="0"/>
                          <a:ea typeface="Calibri" pitchFamily="34" charset="-122"/>
                          <a:cs typeface="Calibri" pitchFamily="34" charset="-120"/>
                        </a:rPr>
                        <a:t>0.759</a:t>
                      </a:r>
                      <a:endParaRPr lang="en-US" sz="1300" dirty="0">
                        <a:latin typeface="Calibri" charset="0"/>
                        <a:ea typeface="Calibri" charset="0"/>
                        <a:cs typeface="Calibri" charset="0"/>
                      </a:endParaRPr>
                    </a:p>
                  </a:txBody>
                  <a:tcPr marL="91440" marR="91440" marT="45720" marB="4572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tcPr>
                </a:tc>
                <a:tc>
                  <a:txBody>
                    <a:bodyPr/>
                    <a:lstStyle/>
                    <a:p>
                      <a:pPr indent="0" marL="0">
                        <a:buNone/>
                      </a:pPr>
                      <a:r>
                        <a:rPr lang="en-US" sz="1300" b="1" dirty="0">
                          <a:solidFill>
                            <a:srgbClr val="0A8F72"/>
                          </a:solidFill>
                          <a:latin typeface="Calibri" pitchFamily="34" charset="0"/>
                          <a:ea typeface="Calibri" pitchFamily="34" charset="-122"/>
                          <a:cs typeface="Calibri" pitchFamily="34" charset="-120"/>
                        </a:rPr>
                        <a:t>0.175</a:t>
                      </a:r>
                      <a:endParaRPr lang="en-US" sz="1300" dirty="0">
                        <a:latin typeface="Calibri" charset="0"/>
                        <a:ea typeface="Calibri" charset="0"/>
                        <a:cs typeface="Calibri" charset="0"/>
                      </a:endParaRPr>
                    </a:p>
                  </a:txBody>
                  <a:tcPr marL="91440" marR="91440" marT="45720" marB="4572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tcPr>
                </a:tc>
              </a:tr>
            </a:tbl>
          </a:graphicData>
        </a:graphic>
      </p:graphicFrame>
      <p:sp>
        <p:nvSpPr>
          <p:cNvPr id="8" name="Text 5"/>
          <p:cNvSpPr/>
          <p:nvPr/>
        </p:nvSpPr>
        <p:spPr>
          <a:xfrm>
            <a:off x="548640" y="4617720"/>
            <a:ext cx="5120640" cy="822960"/>
          </a:xfrm>
          <a:prstGeom prst="rect">
            <a:avLst/>
          </a:prstGeom>
          <a:noFill/>
          <a:ln/>
        </p:spPr>
        <p:txBody>
          <a:bodyPr wrap="square" lIns="0" tIns="0" rIns="0" bIns="0" rtlCol="0" anchor="ctr"/>
          <a:lstStyle/>
          <a:p>
            <a:pPr indent="0" marL="0">
              <a:buNone/>
            </a:pPr>
            <a:r>
              <a:rPr lang="en-US" sz="1200" i="1" dirty="0">
                <a:solidFill>
                  <a:srgbClr val="5A6478"/>
                </a:solidFill>
                <a:latin typeface="Calibri" pitchFamily="34" charset="0"/>
                <a:ea typeface="Calibri" pitchFamily="34" charset="-122"/>
                <a:cs typeface="Calibri" pitchFamily="34" charset="-120"/>
              </a:rPr>
              <a:t>Measured on 100 held-out pairs never seen in training. GPU inference: ~0.03 s/image.</a:t>
            </a:r>
            <a:endParaRPr lang="en-US" sz="1200" dirty="0"/>
          </a:p>
        </p:txBody>
      </p:sp>
      <p:pic>
        <p:nvPicPr>
          <p:cNvPr id="9" name="Image 0" descr="C:/Users/Mi/Downloads/files/assets/comparison.png">    </p:cNvPr>
          <p:cNvPicPr>
            <a:picLocks noChangeAspect="1"/>
          </p:cNvPicPr>
          <p:nvPr/>
        </p:nvPicPr>
        <p:blipFill>
          <a:blip r:embed="rId1"/>
          <a:stretch>
            <a:fillRect/>
          </a:stretch>
        </p:blipFill>
        <p:spPr>
          <a:xfrm>
            <a:off x="5897880" y="2788920"/>
            <a:ext cx="5806440" cy="3255264"/>
          </a:xfrm>
          <a:prstGeom prst="rect">
            <a:avLst/>
          </a:prstGeom>
        </p:spPr>
      </p:pic>
      <p:sp>
        <p:nvSpPr>
          <p:cNvPr id="10" name="Text 6"/>
          <p:cNvSpPr/>
          <p:nvPr/>
        </p:nvSpPr>
        <p:spPr>
          <a:xfrm>
            <a:off x="5897880" y="6080760"/>
            <a:ext cx="5806440" cy="320040"/>
          </a:xfrm>
          <a:prstGeom prst="rect">
            <a:avLst/>
          </a:prstGeom>
          <a:noFill/>
          <a:ln/>
        </p:spPr>
        <p:txBody>
          <a:bodyPr wrap="square" lIns="0" tIns="0" rIns="0" bIns="0" rtlCol="0" anchor="ctr"/>
          <a:lstStyle/>
          <a:p>
            <a:pPr algn="ctr" indent="0" marL="0">
              <a:buNone/>
            </a:pPr>
            <a:r>
              <a:rPr lang="en-US" sz="1100" dirty="0">
                <a:solidFill>
                  <a:srgbClr val="5A6478"/>
                </a:solidFill>
                <a:latin typeface="Calibri" pitchFamily="34" charset="0"/>
                <a:ea typeface="Calibri" pitchFamily="34" charset="-122"/>
                <a:cs typeface="Calibri" pitchFamily="34" charset="-120"/>
              </a:rPr>
              <a:t>Degraded  →  bicubic  →  ours  →  ground truth   (held-out test images)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E2761"/>
                </a:solidFill>
                <a:latin typeface="Arial" pitchFamily="34" charset="0"/>
                <a:ea typeface="Arial" pitchFamily="34" charset="-122"/>
                <a:cs typeface="Arial" pitchFamily="34" charset="-120"/>
              </a:rPr>
              <a:t>Impact &amp; Feasibility</a:t>
            </a:r>
            <a:endParaRPr lang="en-US" sz="3200" dirty="0"/>
          </a:p>
        </p:txBody>
      </p:sp>
      <p:sp>
        <p:nvSpPr>
          <p:cNvPr id="3" name="Text 1"/>
          <p:cNvSpPr/>
          <p:nvPr/>
        </p:nvSpPr>
        <p:spPr>
          <a:xfrm>
            <a:off x="548640" y="1234440"/>
            <a:ext cx="5212080" cy="320040"/>
          </a:xfrm>
          <a:prstGeom prst="rect">
            <a:avLst/>
          </a:prstGeom>
          <a:noFill/>
          <a:ln/>
        </p:spPr>
        <p:txBody>
          <a:bodyPr wrap="square" lIns="0" tIns="0" rIns="0" bIns="0" rtlCol="0" anchor="ctr"/>
          <a:lstStyle/>
          <a:p>
            <a:pPr indent="0" marL="0">
              <a:buNone/>
            </a:pPr>
            <a:r>
              <a:rPr lang="en-US" sz="1700" b="1" dirty="0">
                <a:solidFill>
                  <a:srgbClr val="1E2761"/>
                </a:solidFill>
                <a:latin typeface="Arial" pitchFamily="34" charset="0"/>
                <a:ea typeface="Arial" pitchFamily="34" charset="-122"/>
                <a:cs typeface="Arial" pitchFamily="34" charset="-120"/>
              </a:rPr>
              <a:t>Impact</a:t>
            </a:r>
            <a:endParaRPr lang="en-US" sz="1700" dirty="0"/>
          </a:p>
        </p:txBody>
      </p:sp>
      <p:sp>
        <p:nvSpPr>
          <p:cNvPr id="4" name="Text 2"/>
          <p:cNvSpPr/>
          <p:nvPr/>
        </p:nvSpPr>
        <p:spPr>
          <a:xfrm>
            <a:off x="548640" y="1600200"/>
            <a:ext cx="5212080" cy="237744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Defects hidden in noise become visible — fewer missed escapes, fewer false alarms</a:t>
            </a:r>
            <a:endParaRPr lang="en-US" sz="1350" dirty="0"/>
          </a:p>
          <a:p>
            <a:pPr marL="342900" indent="-3429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Enables faster, lower-dose scans: capture noisier images quickly, restore in software</a:t>
            </a:r>
            <a:endParaRPr lang="en-US" sz="1350" dirty="0"/>
          </a:p>
          <a:p>
            <a:pPr marL="342900" indent="-3429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Higher inspection throughput without buying new microscope hardware</a:t>
            </a:r>
            <a:endParaRPr lang="en-US" sz="1350" dirty="0"/>
          </a:p>
          <a:p>
            <a:pPr marL="342900" indent="-3429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Fidelity-first design keeps engineers' trust — the model never invents structure</a:t>
            </a:r>
            <a:endParaRPr lang="en-US" sz="1350" dirty="0"/>
          </a:p>
        </p:txBody>
      </p:sp>
      <p:sp>
        <p:nvSpPr>
          <p:cNvPr id="5" name="Text 3"/>
          <p:cNvSpPr/>
          <p:nvPr/>
        </p:nvSpPr>
        <p:spPr>
          <a:xfrm>
            <a:off x="6309360" y="1234440"/>
            <a:ext cx="5303520" cy="320040"/>
          </a:xfrm>
          <a:prstGeom prst="rect">
            <a:avLst/>
          </a:prstGeom>
          <a:noFill/>
          <a:ln/>
        </p:spPr>
        <p:txBody>
          <a:bodyPr wrap="square" lIns="0" tIns="0" rIns="0" bIns="0" rtlCol="0" anchor="ctr"/>
          <a:lstStyle/>
          <a:p>
            <a:pPr indent="0" marL="0">
              <a:buNone/>
            </a:pPr>
            <a:r>
              <a:rPr lang="en-US" sz="1700" b="1" dirty="0">
                <a:solidFill>
                  <a:srgbClr val="1E2761"/>
                </a:solidFill>
                <a:latin typeface="Arial" pitchFamily="34" charset="0"/>
                <a:ea typeface="Arial" pitchFamily="34" charset="-122"/>
                <a:cs typeface="Arial" pitchFamily="34" charset="-120"/>
              </a:rPr>
              <a:t>Feasibility</a:t>
            </a:r>
            <a:endParaRPr lang="en-US" sz="1700" dirty="0"/>
          </a:p>
        </p:txBody>
      </p:sp>
      <p:sp>
        <p:nvSpPr>
          <p:cNvPr id="6" name="Text 4"/>
          <p:cNvSpPr/>
          <p:nvPr/>
        </p:nvSpPr>
        <p:spPr>
          <a:xfrm>
            <a:off x="6309360" y="1600200"/>
            <a:ext cx="5303520" cy="237744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Already built and working end to end — not a concept</a:t>
            </a:r>
            <a:endParaRPr lang="en-US" sz="1350" dirty="0"/>
          </a:p>
          <a:p>
            <a:pPr marL="342900" indent="-3429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6.5 MB model runs on a plain laptop CPU; no GPU needed to deploy</a:t>
            </a:r>
            <a:endParaRPr lang="en-US" sz="1350" dirty="0"/>
          </a:p>
          <a:p>
            <a:pPr marL="342900" indent="-3429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Zero infrastructure cost: trained free on Colab, fully open-source stack</a:t>
            </a:r>
            <a:endParaRPr lang="en-US" sz="1350" dirty="0"/>
          </a:p>
          <a:p>
            <a:pPr marL="342900" indent="-3429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Drop-in usage: folder in → folder out, plus a web UI for operators</a:t>
            </a:r>
            <a:endParaRPr lang="en-US" sz="1350" dirty="0"/>
          </a:p>
        </p:txBody>
      </p:sp>
      <p:sp>
        <p:nvSpPr>
          <p:cNvPr id="7" name="Text 5"/>
          <p:cNvSpPr/>
          <p:nvPr/>
        </p:nvSpPr>
        <p:spPr>
          <a:xfrm>
            <a:off x="548640" y="4343400"/>
            <a:ext cx="2606040" cy="960120"/>
          </a:xfrm>
          <a:prstGeom prst="roundRect">
            <a:avLst>
              <a:gd name="adj" fmla="val 7619"/>
            </a:avLst>
          </a:prstGeom>
          <a:solidFill>
            <a:srgbClr val="F4F7FD"/>
          </a:solidFill>
          <a:ln/>
        </p:spPr>
        <p:txBody>
          <a:bodyPr wrap="square" lIns="0" tIns="0" rIns="0" bIns="0" rtlCol="0" anchor="ctr"/>
          <a:lstStyle/>
          <a:p>
            <a:pPr algn="ctr" indent="0" marL="0">
              <a:buNone/>
            </a:pPr>
            <a:r>
              <a:rPr lang="en-US" sz="2600" b="1" dirty="0">
                <a:solidFill>
                  <a:srgbClr val="1E2761"/>
                </a:solidFill>
                <a:latin typeface="Arial" pitchFamily="34" charset="0"/>
                <a:ea typeface="Arial" pitchFamily="34" charset="-122"/>
                <a:cs typeface="Arial" pitchFamily="34" charset="-120"/>
              </a:rPr>
              <a:t>6.5 MB</a:t>
            </a:r>
            <a:endParaRPr lang="en-US" sz="2600" dirty="0"/>
          </a:p>
          <a:p>
            <a:pPr algn="ctr" indent="0" marL="0">
              <a:buNone/>
            </a:pPr>
            <a:r>
              <a:rPr lang="en-US" sz="1100" dirty="0">
                <a:solidFill>
                  <a:srgbClr val="5A6478"/>
                </a:solidFill>
                <a:latin typeface="Arial" pitchFamily="34" charset="0"/>
                <a:ea typeface="Arial" pitchFamily="34" charset="-122"/>
                <a:cs typeface="Arial" pitchFamily="34" charset="-120"/>
              </a:rPr>
              <a:t>model size</a:t>
            </a:r>
            <a:endParaRPr lang="en-US" sz="2600" dirty="0"/>
          </a:p>
        </p:txBody>
      </p:sp>
      <p:sp>
        <p:nvSpPr>
          <p:cNvPr id="8" name="Text 6"/>
          <p:cNvSpPr/>
          <p:nvPr/>
        </p:nvSpPr>
        <p:spPr>
          <a:xfrm>
            <a:off x="3337560" y="4343400"/>
            <a:ext cx="2606040" cy="960120"/>
          </a:xfrm>
          <a:prstGeom prst="roundRect">
            <a:avLst>
              <a:gd name="adj" fmla="val 7619"/>
            </a:avLst>
          </a:prstGeom>
          <a:solidFill>
            <a:srgbClr val="F4F7FD"/>
          </a:solidFill>
          <a:ln/>
        </p:spPr>
        <p:txBody>
          <a:bodyPr wrap="square" lIns="0" tIns="0" rIns="0" bIns="0" rtlCol="0" anchor="ctr"/>
          <a:lstStyle/>
          <a:p>
            <a:pPr algn="ctr" indent="0" marL="0">
              <a:buNone/>
            </a:pPr>
            <a:r>
              <a:rPr lang="en-US" sz="2600" b="1" dirty="0">
                <a:solidFill>
                  <a:srgbClr val="1E2761"/>
                </a:solidFill>
                <a:latin typeface="Arial" pitchFamily="34" charset="0"/>
                <a:ea typeface="Arial" pitchFamily="34" charset="-122"/>
                <a:cs typeface="Arial" pitchFamily="34" charset="-120"/>
              </a:rPr>
              <a:t>1.2 s</a:t>
            </a:r>
            <a:endParaRPr lang="en-US" sz="2600" dirty="0"/>
          </a:p>
          <a:p>
            <a:pPr algn="ctr" indent="0" marL="0">
              <a:buNone/>
            </a:pPr>
            <a:r>
              <a:rPr lang="en-US" sz="1100" dirty="0">
                <a:solidFill>
                  <a:srgbClr val="5A6478"/>
                </a:solidFill>
                <a:latin typeface="Arial" pitchFamily="34" charset="0"/>
                <a:ea typeface="Arial" pitchFamily="34" charset="-122"/>
                <a:cs typeface="Arial" pitchFamily="34" charset="-120"/>
              </a:rPr>
              <a:t>per image, CPU</a:t>
            </a:r>
            <a:endParaRPr lang="en-US" sz="2600" dirty="0"/>
          </a:p>
        </p:txBody>
      </p:sp>
      <p:sp>
        <p:nvSpPr>
          <p:cNvPr id="9" name="Text 7"/>
          <p:cNvSpPr/>
          <p:nvPr/>
        </p:nvSpPr>
        <p:spPr>
          <a:xfrm>
            <a:off x="6126480" y="4343400"/>
            <a:ext cx="2606040" cy="960120"/>
          </a:xfrm>
          <a:prstGeom prst="roundRect">
            <a:avLst>
              <a:gd name="adj" fmla="val 7619"/>
            </a:avLst>
          </a:prstGeom>
          <a:solidFill>
            <a:srgbClr val="F4F7FD"/>
          </a:solidFill>
          <a:ln/>
        </p:spPr>
        <p:txBody>
          <a:bodyPr wrap="square" lIns="0" tIns="0" rIns="0" bIns="0" rtlCol="0" anchor="ctr"/>
          <a:lstStyle/>
          <a:p>
            <a:pPr algn="ctr" indent="0" marL="0">
              <a:buNone/>
            </a:pPr>
            <a:r>
              <a:rPr lang="en-US" sz="2600" b="1" dirty="0">
                <a:solidFill>
                  <a:srgbClr val="1E2761"/>
                </a:solidFill>
                <a:latin typeface="Arial" pitchFamily="34" charset="0"/>
                <a:ea typeface="Arial" pitchFamily="34" charset="-122"/>
                <a:cs typeface="Arial" pitchFamily="34" charset="-120"/>
              </a:rPr>
              <a:t>8 min</a:t>
            </a:r>
            <a:endParaRPr lang="en-US" sz="2600" dirty="0"/>
          </a:p>
          <a:p>
            <a:pPr algn="ctr" indent="0" marL="0">
              <a:buNone/>
            </a:pPr>
            <a:r>
              <a:rPr lang="en-US" sz="1100" dirty="0">
                <a:solidFill>
                  <a:srgbClr val="5A6478"/>
                </a:solidFill>
                <a:latin typeface="Arial" pitchFamily="34" charset="0"/>
                <a:ea typeface="Arial" pitchFamily="34" charset="-122"/>
                <a:cs typeface="Arial" pitchFamily="34" charset="-120"/>
              </a:rPr>
              <a:t>for all 400 test images</a:t>
            </a:r>
            <a:endParaRPr lang="en-US" sz="2600" dirty="0"/>
          </a:p>
        </p:txBody>
      </p:sp>
      <p:sp>
        <p:nvSpPr>
          <p:cNvPr id="10" name="Text 8"/>
          <p:cNvSpPr/>
          <p:nvPr/>
        </p:nvSpPr>
        <p:spPr>
          <a:xfrm>
            <a:off x="8915400" y="4343400"/>
            <a:ext cx="2606040" cy="960120"/>
          </a:xfrm>
          <a:prstGeom prst="roundRect">
            <a:avLst>
              <a:gd name="adj" fmla="val 7619"/>
            </a:avLst>
          </a:prstGeom>
          <a:solidFill>
            <a:srgbClr val="F4F7FD"/>
          </a:solidFill>
          <a:ln/>
        </p:spPr>
        <p:txBody>
          <a:bodyPr wrap="square" lIns="0" tIns="0" rIns="0" bIns="0" rtlCol="0" anchor="ctr"/>
          <a:lstStyle/>
          <a:p>
            <a:pPr algn="ctr" indent="0" marL="0">
              <a:buNone/>
            </a:pPr>
            <a:r>
              <a:rPr lang="en-US" sz="2600" b="1" dirty="0">
                <a:solidFill>
                  <a:srgbClr val="1E2761"/>
                </a:solidFill>
                <a:latin typeface="Arial" pitchFamily="34" charset="0"/>
                <a:ea typeface="Arial" pitchFamily="34" charset="-122"/>
                <a:cs typeface="Arial" pitchFamily="34" charset="-120"/>
              </a:rPr>
              <a:t>₹0</a:t>
            </a:r>
            <a:endParaRPr lang="en-US" sz="2600" dirty="0"/>
          </a:p>
          <a:p>
            <a:pPr algn="ctr" indent="0" marL="0">
              <a:buNone/>
            </a:pPr>
            <a:r>
              <a:rPr lang="en-US" sz="1100" dirty="0">
                <a:solidFill>
                  <a:srgbClr val="5A6478"/>
                </a:solidFill>
                <a:latin typeface="Arial" pitchFamily="34" charset="0"/>
                <a:ea typeface="Arial" pitchFamily="34" charset="-122"/>
                <a:cs typeface="Arial" pitchFamily="34" charset="-120"/>
              </a:rPr>
              <a:t>hardware cost</a:t>
            </a:r>
            <a:endParaRPr lang="en-US" sz="2600" dirty="0"/>
          </a:p>
        </p:txBody>
      </p:sp>
      <p:sp>
        <p:nvSpPr>
          <p:cNvPr id="11" name="Text 9"/>
          <p:cNvSpPr/>
          <p:nvPr/>
        </p:nvSpPr>
        <p:spPr>
          <a:xfrm>
            <a:off x="548640" y="5532120"/>
            <a:ext cx="11018520" cy="594360"/>
          </a:xfrm>
          <a:prstGeom prst="roundRect">
            <a:avLst>
              <a:gd name="adj" fmla="val 15385"/>
            </a:avLst>
          </a:prstGeom>
          <a:solidFill>
            <a:srgbClr val="1E2761"/>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Ready to pilot today: point it at an inspection folder and the restored images appear alongside.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E2761"/>
                </a:solidFill>
                <a:latin typeface="Arial" pitchFamily="34" charset="0"/>
                <a:ea typeface="Arial" pitchFamily="34" charset="-122"/>
                <a:cs typeface="Arial" pitchFamily="34" charset="-120"/>
              </a:rPr>
              <a:t>Technology</a:t>
            </a:r>
            <a:endParaRPr lang="en-US" sz="3200" dirty="0"/>
          </a:p>
        </p:txBody>
      </p:sp>
      <p:sp>
        <p:nvSpPr>
          <p:cNvPr id="3" name="Text 1"/>
          <p:cNvSpPr/>
          <p:nvPr/>
        </p:nvSpPr>
        <p:spPr>
          <a:xfrm>
            <a:off x="548640" y="1280160"/>
            <a:ext cx="5029200" cy="365760"/>
          </a:xfrm>
          <a:prstGeom prst="rect">
            <a:avLst/>
          </a:prstGeom>
          <a:noFill/>
          <a:ln/>
        </p:spPr>
        <p:txBody>
          <a:bodyPr wrap="square" lIns="0" tIns="0" rIns="0" bIns="0" rtlCol="0" anchor="ctr"/>
          <a:lstStyle/>
          <a:p>
            <a:pPr indent="0" marL="0">
              <a:buNone/>
            </a:pPr>
            <a:r>
              <a:rPr lang="en-US" sz="1800" b="1" dirty="0">
                <a:solidFill>
                  <a:srgbClr val="1E2761"/>
                </a:solidFill>
                <a:latin typeface="Arial" pitchFamily="34" charset="0"/>
                <a:ea typeface="Arial" pitchFamily="34" charset="-122"/>
                <a:cs typeface="Arial" pitchFamily="34" charset="-120"/>
              </a:rPr>
              <a:t>Stack</a:t>
            </a:r>
            <a:endParaRPr lang="en-US" sz="1800" dirty="0"/>
          </a:p>
        </p:txBody>
      </p:sp>
      <p:sp>
        <p:nvSpPr>
          <p:cNvPr id="4" name="Text 2"/>
          <p:cNvSpPr/>
          <p:nvPr/>
        </p:nvSpPr>
        <p:spPr>
          <a:xfrm>
            <a:off x="548640" y="1691640"/>
            <a:ext cx="5212080" cy="25603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PyTorch — model, training, inference</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NAFNet-SR — implemented by us, from scratch</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pytorch-msssim + lpips — differentiable quality losses</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scikit-image — reference metrics for honest reporting</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Streamlit — live demo UI (upload → restore → compare)</a:t>
            </a:r>
            <a:endParaRPr lang="en-US" sz="1400" dirty="0"/>
          </a:p>
        </p:txBody>
      </p:sp>
      <p:sp>
        <p:nvSpPr>
          <p:cNvPr id="5" name="Text 3"/>
          <p:cNvSpPr/>
          <p:nvPr/>
        </p:nvSpPr>
        <p:spPr>
          <a:xfrm>
            <a:off x="6309360" y="1280160"/>
            <a:ext cx="5029200" cy="365760"/>
          </a:xfrm>
          <a:prstGeom prst="rect">
            <a:avLst/>
          </a:prstGeom>
          <a:noFill/>
          <a:ln/>
        </p:spPr>
        <p:txBody>
          <a:bodyPr wrap="square" lIns="0" tIns="0" rIns="0" bIns="0" rtlCol="0" anchor="ctr"/>
          <a:lstStyle/>
          <a:p>
            <a:pPr indent="0" marL="0">
              <a:buNone/>
            </a:pPr>
            <a:r>
              <a:rPr lang="en-US" sz="1800" b="1" dirty="0">
                <a:solidFill>
                  <a:srgbClr val="1E2761"/>
                </a:solidFill>
                <a:latin typeface="Arial" pitchFamily="34" charset="0"/>
                <a:ea typeface="Arial" pitchFamily="34" charset="-122"/>
                <a:cs typeface="Arial" pitchFamily="34" charset="-120"/>
              </a:rPr>
              <a:t>Pipeline</a:t>
            </a:r>
            <a:endParaRPr lang="en-US" sz="1800" dirty="0"/>
          </a:p>
        </p:txBody>
      </p:sp>
      <p:sp>
        <p:nvSpPr>
          <p:cNvPr id="6" name="Text 4"/>
          <p:cNvSpPr/>
          <p:nvPr/>
        </p:nvSpPr>
        <p:spPr>
          <a:xfrm>
            <a:off x="6309360" y="1783080"/>
            <a:ext cx="457200" cy="457200"/>
          </a:xfrm>
          <a:prstGeom prst="ellipse">
            <a:avLst/>
          </a:prstGeom>
          <a:solidFill>
            <a:srgbClr val="1E2761"/>
          </a:solid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6949440" y="1737360"/>
            <a:ext cx="4709160" cy="5943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Train  —  </a:t>
            </a:r>
            <a:pPr indent="0" marL="0">
              <a:buNone/>
            </a:pPr>
            <a:r>
              <a:rPr lang="en-US" sz="1350" dirty="0">
                <a:solidFill>
                  <a:srgbClr val="333333"/>
                </a:solidFill>
                <a:latin typeface="Calibri" pitchFamily="34" charset="0"/>
                <a:ea typeface="Calibri" pitchFamily="34" charset="-122"/>
                <a:cs typeface="Calibri" pitchFamily="34" charset="-120"/>
              </a:rPr>
              <a:t>Google Colab T4 (free) · 100 epochs · ≈ 2 hours</a:t>
            </a:r>
            <a:endParaRPr lang="en-US" sz="1350" dirty="0"/>
          </a:p>
        </p:txBody>
      </p:sp>
      <p:sp>
        <p:nvSpPr>
          <p:cNvPr id="8" name="Text 6"/>
          <p:cNvSpPr/>
          <p:nvPr/>
        </p:nvSpPr>
        <p:spPr>
          <a:xfrm>
            <a:off x="6309360" y="2651760"/>
            <a:ext cx="457200" cy="457200"/>
          </a:xfrm>
          <a:prstGeom prst="ellipse">
            <a:avLst/>
          </a:prstGeom>
          <a:solidFill>
            <a:srgbClr val="1E2761"/>
          </a:solid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9" name="Text 7"/>
          <p:cNvSpPr/>
          <p:nvPr/>
        </p:nvSpPr>
        <p:spPr>
          <a:xfrm>
            <a:off x="6949440" y="2606040"/>
            <a:ext cx="4709160" cy="5943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Evaluate  —  </a:t>
            </a:r>
            <a:pPr indent="0" marL="0">
              <a:buNone/>
            </a:pPr>
            <a:r>
              <a:rPr lang="en-US" sz="1350" dirty="0">
                <a:solidFill>
                  <a:srgbClr val="333333"/>
                </a:solidFill>
                <a:latin typeface="Calibri" pitchFamily="34" charset="0"/>
                <a:ea typeface="Calibri" pitchFamily="34" charset="-122"/>
                <a:cs typeface="Calibri" pitchFamily="34" charset="-120"/>
              </a:rPr>
              <a:t>PSNR / SSIM / LPIPS per image + CSV report</a:t>
            </a:r>
            <a:endParaRPr lang="en-US" sz="1350" dirty="0"/>
          </a:p>
        </p:txBody>
      </p:sp>
      <p:sp>
        <p:nvSpPr>
          <p:cNvPr id="10" name="Text 8"/>
          <p:cNvSpPr/>
          <p:nvPr/>
        </p:nvSpPr>
        <p:spPr>
          <a:xfrm>
            <a:off x="6309360" y="3520440"/>
            <a:ext cx="457200" cy="457200"/>
          </a:xfrm>
          <a:prstGeom prst="ellipse">
            <a:avLst/>
          </a:prstGeom>
          <a:solidFill>
            <a:srgbClr val="1E2761"/>
          </a:solid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1" name="Text 9"/>
          <p:cNvSpPr/>
          <p:nvPr/>
        </p:nvSpPr>
        <p:spPr>
          <a:xfrm>
            <a:off x="6949440" y="3474720"/>
            <a:ext cx="4709160" cy="5943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Deploy  —  </a:t>
            </a:r>
            <a:pPr indent="0" marL="0">
              <a:buNone/>
            </a:pPr>
            <a:r>
              <a:rPr lang="en-US" sz="1350" dirty="0">
                <a:solidFill>
                  <a:srgbClr val="333333"/>
                </a:solidFill>
                <a:latin typeface="Calibri" pitchFamily="34" charset="0"/>
                <a:ea typeface="Calibri" pitchFamily="34" charset="-122"/>
                <a:cs typeface="Calibri" pitchFamily="34" charset="-120"/>
              </a:rPr>
              <a:t>Streamlit demo · 1.2 s/image on CPU, no GPU needed</a:t>
            </a:r>
            <a:endParaRPr lang="en-US" sz="1350" dirty="0"/>
          </a:p>
        </p:txBody>
      </p:sp>
      <p:sp>
        <p:nvSpPr>
          <p:cNvPr id="12" name="Text 10"/>
          <p:cNvSpPr/>
          <p:nvPr/>
        </p:nvSpPr>
        <p:spPr>
          <a:xfrm>
            <a:off x="548640" y="5120640"/>
            <a:ext cx="11018520" cy="731520"/>
          </a:xfrm>
          <a:prstGeom prst="roundRect">
            <a:avLst>
              <a:gd name="adj" fmla="val 12500"/>
            </a:avLst>
          </a:prstGeom>
          <a:solidFill>
            <a:srgbClr val="F4F7FD"/>
          </a:solid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Fully reproducible: seeded data splits · frozen benchmark · model config stored inside the checkpoint → inference needs zero code edits.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E2761"/>
                </a:solidFill>
                <a:latin typeface="Arial" pitchFamily="34" charset="0"/>
                <a:ea typeface="Arial" pitchFamily="34" charset="-122"/>
                <a:cs typeface="Arial" pitchFamily="34" charset="-120"/>
              </a:rPr>
              <a:t>Code &amp; Reproducibility</a:t>
            </a:r>
            <a:endParaRPr lang="en-US" sz="3200" dirty="0"/>
          </a:p>
        </p:txBody>
      </p:sp>
      <p:sp>
        <p:nvSpPr>
          <p:cNvPr id="3" name="Text 1"/>
          <p:cNvSpPr/>
          <p:nvPr/>
        </p:nvSpPr>
        <p:spPr>
          <a:xfrm>
            <a:off x="548640" y="1371600"/>
            <a:ext cx="5394960" cy="3383280"/>
          </a:xfrm>
          <a:prstGeom prst="roundRect">
            <a:avLst>
              <a:gd name="adj" fmla="val 2703"/>
            </a:avLst>
          </a:prstGeom>
          <a:solidFill>
            <a:srgbClr val="F4F7FD"/>
          </a:solidFill>
          <a:ln/>
        </p:spPr>
        <p:txBody>
          <a:bodyPr wrap="square" lIns="203200" tIns="203200" rIns="203200" bIns="203200" rtlCol="0" anchor="ctr"/>
          <a:lstStyle/>
          <a:p>
            <a:pPr indent="0" marL="0">
              <a:buNone/>
            </a:pPr>
            <a:r>
              <a:rPr lang="en-US" sz="1300" dirty="0">
                <a:solidFill>
                  <a:srgbClr val="1E2761"/>
                </a:solidFill>
                <a:latin typeface="Courier New" pitchFamily="34" charset="0"/>
                <a:ea typeface="Courier New" pitchFamily="34" charset="-122"/>
                <a:cs typeface="Courier New" pitchFamily="34" charset="-120"/>
              </a:rPr>
              <a:t>project/</a:t>
            </a:r>
            <a:endParaRPr lang="en-US" sz="1300" dirty="0"/>
          </a:p>
          <a:p>
            <a:pPr indent="0" marL="0">
              <a:buNone/>
            </a:pPr>
            <a:r>
              <a:rPr lang="en-US" sz="1300" dirty="0">
                <a:solidFill>
                  <a:srgbClr val="1E2761"/>
                </a:solidFill>
                <a:latin typeface="Courier New" pitchFamily="34" charset="0"/>
                <a:ea typeface="Courier New" pitchFamily="34" charset="-122"/>
                <a:cs typeface="Courier New" pitchFamily="34" charset="-120"/>
              </a:rPr>
              <a:t>├─ dataset/      loader + degradation pipeline</a:t>
            </a:r>
            <a:endParaRPr lang="en-US" sz="1300" dirty="0"/>
          </a:p>
          <a:p>
            <a:pPr indent="0" marL="0">
              <a:buNone/>
            </a:pPr>
            <a:r>
              <a:rPr lang="en-US" sz="1300" dirty="0">
                <a:solidFill>
                  <a:srgbClr val="1E2761"/>
                </a:solidFill>
                <a:latin typeface="Courier New" pitchFamily="34" charset="0"/>
                <a:ea typeface="Courier New" pitchFamily="34" charset="-122"/>
                <a:cs typeface="Courier New" pitchFamily="34" charset="-120"/>
              </a:rPr>
              <a:t>├─ models/       nafnet.py (the architecture)</a:t>
            </a:r>
            <a:endParaRPr lang="en-US" sz="1300" dirty="0"/>
          </a:p>
          <a:p>
            <a:pPr indent="0" marL="0">
              <a:buNone/>
            </a:pPr>
            <a:r>
              <a:rPr lang="en-US" sz="1300" dirty="0">
                <a:solidFill>
                  <a:srgbClr val="1E2761"/>
                </a:solidFill>
                <a:latin typeface="Courier New" pitchFamily="34" charset="0"/>
                <a:ea typeface="Courier New" pitchFamily="34" charset="-122"/>
                <a:cs typeface="Courier New" pitchFamily="34" charset="-120"/>
              </a:rPr>
              <a:t>├─ utils/        image_io · losses · metrics</a:t>
            </a:r>
            <a:endParaRPr lang="en-US" sz="1300" dirty="0"/>
          </a:p>
          <a:p>
            <a:pPr indent="0" marL="0">
              <a:buNone/>
            </a:pPr>
            <a:r>
              <a:rPr lang="en-US" sz="1300" dirty="0">
                <a:solidFill>
                  <a:srgbClr val="1E2761"/>
                </a:solidFill>
                <a:latin typeface="Courier New" pitchFamily="34" charset="0"/>
                <a:ea typeface="Courier New" pitchFamily="34" charset="-122"/>
                <a:cs typeface="Courier New" pitchFamily="34" charset="-120"/>
              </a:rPr>
              <a:t>├─ train.py      training loop</a:t>
            </a:r>
            <a:endParaRPr lang="en-US" sz="1300" dirty="0"/>
          </a:p>
          <a:p>
            <a:pPr indent="0" marL="0">
              <a:buNone/>
            </a:pPr>
            <a:r>
              <a:rPr lang="en-US" sz="1300" dirty="0">
                <a:solidFill>
                  <a:srgbClr val="1E2761"/>
                </a:solidFill>
                <a:latin typeface="Courier New" pitchFamily="34" charset="0"/>
                <a:ea typeface="Courier New" pitchFamily="34" charset="-122"/>
                <a:cs typeface="Courier New" pitchFamily="34" charset="-120"/>
              </a:rPr>
              <a:t>├─ evaluate.py   metric report (CSV)</a:t>
            </a:r>
            <a:endParaRPr lang="en-US" sz="1300" dirty="0"/>
          </a:p>
          <a:p>
            <a:pPr indent="0" marL="0">
              <a:buNone/>
            </a:pPr>
            <a:r>
              <a:rPr lang="en-US" sz="1300" dirty="0">
                <a:solidFill>
                  <a:srgbClr val="1E2761"/>
                </a:solidFill>
                <a:latin typeface="Courier New" pitchFamily="34" charset="0"/>
                <a:ea typeface="Courier New" pitchFamily="34" charset="-122"/>
                <a:cs typeface="Courier New" pitchFamily="34" charset="-120"/>
              </a:rPr>
              <a:t>├─ inference.py  batch restore → submission</a:t>
            </a:r>
            <a:endParaRPr lang="en-US" sz="1300" dirty="0"/>
          </a:p>
          <a:p>
            <a:pPr indent="0" marL="0">
              <a:buNone/>
            </a:pPr>
            <a:r>
              <a:rPr lang="en-US" sz="1300" dirty="0">
                <a:solidFill>
                  <a:srgbClr val="1E2761"/>
                </a:solidFill>
                <a:latin typeface="Courier New" pitchFamily="34" charset="0"/>
                <a:ea typeface="Courier New" pitchFamily="34" charset="-122"/>
                <a:cs typeface="Courier New" pitchFamily="34" charset="-120"/>
              </a:rPr>
              <a:t>├─ app.py        Streamlit demo</a:t>
            </a:r>
            <a:endParaRPr lang="en-US" sz="1300" dirty="0"/>
          </a:p>
          <a:p>
            <a:pPr indent="0" marL="0">
              <a:buNone/>
            </a:pPr>
            <a:r>
              <a:rPr lang="en-US" sz="1300" dirty="0">
                <a:solidFill>
                  <a:srgbClr val="1E2761"/>
                </a:solidFill>
                <a:latin typeface="Courier New" pitchFamily="34" charset="0"/>
                <a:ea typeface="Courier New" pitchFamily="34" charset="-122"/>
                <a:cs typeface="Courier New" pitchFamily="34" charset="-120"/>
              </a:rPr>
              <a:t>└─ README.md     results + 4-command repro</a:t>
            </a:r>
            <a:endParaRPr lang="en-US" sz="1300" dirty="0"/>
          </a:p>
        </p:txBody>
      </p:sp>
      <p:sp>
        <p:nvSpPr>
          <p:cNvPr id="4" name="Text 2"/>
          <p:cNvSpPr/>
          <p:nvPr/>
        </p:nvSpPr>
        <p:spPr>
          <a:xfrm>
            <a:off x="6400800" y="1463040"/>
            <a:ext cx="5212080" cy="2286000"/>
          </a:xfrm>
          <a:prstGeom prst="rect">
            <a:avLst/>
          </a:prstGeom>
          <a:noFill/>
          <a:ln/>
        </p:spPr>
        <p:txBody>
          <a:bodyPr wrap="square" lIns="0" tIns="0" rIns="0" bIns="0" rtlCol="0" anchor="t"/>
          <a:lstStyle/>
          <a:p>
            <a:pPr marL="342900" indent="-342900">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Small and readable on purpose — nine short modules</a:t>
            </a:r>
            <a:endParaRPr lang="en-US" sz="1450" dirty="0"/>
          </a:p>
          <a:p>
            <a:pPr marL="342900" indent="-342900">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Every file commented with WHY, not just what</a:t>
            </a:r>
            <a:endParaRPr lang="en-US" sz="1450" dirty="0"/>
          </a:p>
          <a:p>
            <a:pPr marL="342900" indent="-342900">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README reproduces every number in this deck with 4 commands</a:t>
            </a:r>
            <a:endParaRPr lang="en-US" sz="1450" dirty="0"/>
          </a:p>
          <a:p>
            <a:pPr marL="342900" indent="-342900">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Trained model (6.8 MB) committed with the code</a:t>
            </a:r>
            <a:endParaRPr lang="en-US" sz="1450" dirty="0"/>
          </a:p>
        </p:txBody>
      </p:sp>
      <p:sp>
        <p:nvSpPr>
          <p:cNvPr id="5" name="Text 3"/>
          <p:cNvSpPr/>
          <p:nvPr/>
        </p:nvSpPr>
        <p:spPr>
          <a:xfrm>
            <a:off x="6400800" y="3977640"/>
            <a:ext cx="5212080" cy="868680"/>
          </a:xfrm>
          <a:prstGeom prst="roundRect">
            <a:avLst>
              <a:gd name="adj" fmla="val 10526"/>
            </a:avLst>
          </a:prstGeom>
          <a:solidFill>
            <a:srgbClr val="1E2761"/>
          </a:solidFill>
          <a:ln/>
        </p:spPr>
        <p:txBody>
          <a:bodyPr wrap="square"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github.com/prakharbajaj1551/</a:t>
            </a:r>
            <a:endParaRPr lang="en-US" sz="1400" dirty="0"/>
          </a:p>
          <a:p>
            <a:pPr algn="ctr" indent="0" marL="0">
              <a:buNone/>
            </a:pPr>
            <a:r>
              <a:rPr lang="en-US" sz="1400" b="1" dirty="0">
                <a:solidFill>
                  <a:srgbClr val="FFFFFF"/>
                </a:solidFill>
                <a:latin typeface="Courier New" pitchFamily="34" charset="0"/>
                <a:ea typeface="Courier New" pitchFamily="34" charset="-122"/>
                <a:cs typeface="Courier New" pitchFamily="34" charset="-120"/>
              </a:rPr>
              <a:t>semicon-image-restoration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548640"/>
            <a:ext cx="1005840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References</a:t>
            </a:r>
            <a:endParaRPr lang="en-US" sz="3200" dirty="0"/>
          </a:p>
        </p:txBody>
      </p:sp>
      <p:sp>
        <p:nvSpPr>
          <p:cNvPr id="3" name="Text 1"/>
          <p:cNvSpPr/>
          <p:nvPr/>
        </p:nvSpPr>
        <p:spPr>
          <a:xfrm>
            <a:off x="731520" y="1645920"/>
            <a:ext cx="10698480" cy="2377440"/>
          </a:xfrm>
          <a:prstGeom prst="rect">
            <a:avLst/>
          </a:prstGeom>
          <a:noFill/>
          <a:ln/>
        </p:spPr>
        <p:txBody>
          <a:bodyPr wrap="square" lIns="0" tIns="0" rIns="0" bIns="0" rtlCol="0" anchor="t"/>
          <a:lstStyle/>
          <a:p>
            <a:pPr marL="342900" indent="-342900">
              <a:spcAft>
                <a:spcPts val="1400"/>
              </a:spcAft>
              <a:buSzPct val="100000"/>
              <a:buChar char="•"/>
            </a:pPr>
            <a:r>
              <a:rPr lang="en-US" sz="1500" dirty="0">
                <a:solidFill>
                  <a:srgbClr val="CADCFC"/>
                </a:solidFill>
                <a:latin typeface="Calibri" pitchFamily="34" charset="0"/>
                <a:ea typeface="Calibri" pitchFamily="34" charset="-122"/>
                <a:cs typeface="Calibri" pitchFamily="34" charset="-120"/>
              </a:rPr>
              <a:t>Chen et al. — “Simple Baselines for Image Restoration” (NAFNet), ECCV 2022 · arXiv:2204.04676</a:t>
            </a:r>
            <a:endParaRPr lang="en-US" sz="1500" dirty="0"/>
          </a:p>
          <a:p>
            <a:pPr marL="342900" indent="-342900">
              <a:spcAft>
                <a:spcPts val="1400"/>
              </a:spcAft>
              <a:buSzPct val="100000"/>
              <a:buChar char="•"/>
            </a:pPr>
            <a:r>
              <a:rPr lang="en-US" sz="1500" dirty="0">
                <a:solidFill>
                  <a:srgbClr val="CADCFC"/>
                </a:solidFill>
                <a:latin typeface="Calibri" pitchFamily="34" charset="0"/>
                <a:ea typeface="Calibri" pitchFamily="34" charset="-122"/>
                <a:cs typeface="Calibri" pitchFamily="34" charset="-120"/>
              </a:rPr>
              <a:t>Shi et al. — “Real-Time Single Image Super-Resolution Using an Efficient Sub-Pixel CNN” (PixelShuffle), CVPR 2016</a:t>
            </a:r>
            <a:endParaRPr lang="en-US" sz="1500" dirty="0"/>
          </a:p>
          <a:p>
            <a:pPr marL="342900" indent="-342900">
              <a:spcAft>
                <a:spcPts val="1400"/>
              </a:spcAft>
              <a:buSzPct val="100000"/>
              <a:buChar char="•"/>
            </a:pPr>
            <a:r>
              <a:rPr lang="en-US" sz="1500" dirty="0">
                <a:solidFill>
                  <a:srgbClr val="CADCFC"/>
                </a:solidFill>
                <a:latin typeface="Calibri" pitchFamily="34" charset="0"/>
                <a:ea typeface="Calibri" pitchFamily="34" charset="-122"/>
                <a:cs typeface="Calibri" pitchFamily="34" charset="-120"/>
              </a:rPr>
              <a:t>Zhang et al. — “The Unreasonable Effectiveness of Deep Features as a Perceptual Metric” (LPIPS), CVPR 2018</a:t>
            </a:r>
            <a:endParaRPr lang="en-US" sz="1500" dirty="0"/>
          </a:p>
          <a:p>
            <a:pPr marL="342900" indent="-342900">
              <a:spcAft>
                <a:spcPts val="1400"/>
              </a:spcAft>
              <a:buSzPct val="100000"/>
              <a:buChar char="•"/>
            </a:pPr>
            <a:r>
              <a:rPr lang="en-US" sz="1500" dirty="0">
                <a:solidFill>
                  <a:srgbClr val="CADCFC"/>
                </a:solidFill>
                <a:latin typeface="Calibri" pitchFamily="34" charset="0"/>
                <a:ea typeface="Calibri" pitchFamily="34" charset="-122"/>
                <a:cs typeface="Calibri" pitchFamily="34" charset="-120"/>
              </a:rPr>
              <a:t>Open-source libraries: PyTorch · pytorch-msssim · lpips · scikit-image · Streamlit</a:t>
            </a:r>
            <a:endParaRPr lang="en-US" sz="1500" dirty="0"/>
          </a:p>
        </p:txBody>
      </p:sp>
      <p:sp>
        <p:nvSpPr>
          <p:cNvPr id="4" name="Text 2"/>
          <p:cNvSpPr/>
          <p:nvPr/>
        </p:nvSpPr>
        <p:spPr>
          <a:xfrm>
            <a:off x="731520" y="4846320"/>
            <a:ext cx="10698480"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Thank you</a:t>
            </a:r>
            <a:endParaRPr lang="en-US" sz="4000" dirty="0"/>
          </a:p>
        </p:txBody>
      </p:sp>
      <p:sp>
        <p:nvSpPr>
          <p:cNvPr id="5" name="Text 3"/>
          <p:cNvSpPr/>
          <p:nvPr/>
        </p:nvSpPr>
        <p:spPr>
          <a:xfrm>
            <a:off x="731520" y="5669280"/>
            <a:ext cx="10698480" cy="457200"/>
          </a:xfrm>
          <a:prstGeom prst="rect">
            <a:avLst/>
          </a:prstGeom>
          <a:noFill/>
          <a:ln/>
        </p:spPr>
        <p:txBody>
          <a:bodyPr wrap="square" lIns="0" tIns="0" rIns="0" bIns="0" rtlCol="0" anchor="ctr"/>
          <a:lstStyle/>
          <a:p>
            <a:pPr indent="0" marL="0">
              <a:buNone/>
            </a:pPr>
            <a:r>
              <a:rPr lang="en-US" sz="1600" dirty="0">
                <a:solidFill>
                  <a:srgbClr val="02C39A"/>
                </a:solidFill>
                <a:latin typeface="Calibri" pitchFamily="34" charset="0"/>
                <a:ea typeface="Calibri" pitchFamily="34" charset="-122"/>
                <a:cs typeface="Calibri" pitchFamily="34" charset="-120"/>
              </a:rPr>
              <a:t>Team BYTE BRIGADE  ·  questions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2026-08-06T22:16:34Z</dcterms:created>
  <dcterms:modified xsi:type="dcterms:W3CDTF">2026-08-06T22:16:34Z</dcterms:modified>
</cp:coreProperties>
</file>